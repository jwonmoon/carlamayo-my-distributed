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CARLA와 Alpamayo를 서로 다른 인스턴스에서 돌리는 closed-loop 자율주행 데모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시뮬레이터는 x86 인스턴스, 모델은 GPU 인스턴스. 둘을 gRPC로 잇고 open-loop · closed-loop · navigation(CFG) · VQA를 시연한다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06908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2A3B55"/>
          </a:solidFill>
          <a:ln w="12700">
            <a:solidFill>
              <a:srgbClr val="4C6A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06908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open-loop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83664" y="4069080"/>
            <a:ext cx="1399032" cy="384048"/>
          </a:xfrm>
          <a:prstGeom prst="roundRect">
            <a:avLst>
              <a:gd name="adj" fmla="val 50000"/>
            </a:avLst>
          </a:prstGeom>
          <a:solidFill>
            <a:srgbClr val="2A3B55"/>
          </a:solidFill>
          <a:ln w="12700">
            <a:solidFill>
              <a:srgbClr val="4C6A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83664" y="406908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closed-loop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9856" y="406908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2A3B55"/>
          </a:solidFill>
          <a:ln w="12700">
            <a:solidFill>
              <a:srgbClr val="4C6A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9856" y="4069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navigation (CFG)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58968" y="4069080"/>
            <a:ext cx="594360" cy="384048"/>
          </a:xfrm>
          <a:prstGeom prst="roundRect">
            <a:avLst>
              <a:gd name="adj" fmla="val 50000"/>
            </a:avLst>
          </a:prstGeom>
          <a:solidFill>
            <a:srgbClr val="2A3B55"/>
          </a:solidFill>
          <a:ln w="12700">
            <a:solidFill>
              <a:srgbClr val="4C6A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58968" y="40690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VQA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064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2026-10-01   ·   발표자: ____________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55448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243650"/>
          </a:solidFill>
          <a:ln w="19050">
            <a:solidFill>
              <a:srgbClr val="2A6F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24928" y="16642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시뮬레이션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224028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2F4566"/>
          </a:solidFill>
          <a:ln w="12700">
            <a:solidFill>
              <a:srgbClr val="2F45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16368" y="2240280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 0.9.16 서버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carlamayo.py 루프·PID·UI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52360" y="3081528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2F4566"/>
          </a:solidFill>
          <a:ln w="12700">
            <a:solidFill>
              <a:srgbClr val="2F45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16368" y="308152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3.10 (torch 없음)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Unreal Engine 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52360" y="392277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2F4566"/>
          </a:solidFill>
          <a:ln w="12700">
            <a:solidFill>
              <a:srgbClr val="2F4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16368" y="3922776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g5.2xlarge · x86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A10G 24 GB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012680" y="155448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243650"/>
          </a:solidFill>
          <a:ln w="19050">
            <a:solidFill>
              <a:srgbClr val="E076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22408" y="16642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추론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49840" y="224028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2F4566"/>
          </a:solidFill>
          <a:ln w="12700">
            <a:solidFill>
              <a:srgbClr val="2F45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13848" y="2240280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alpamayo_server.py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gRPC :50051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49840" y="3081528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2F4566"/>
          </a:solidFill>
          <a:ln w="12700">
            <a:solidFill>
              <a:srgbClr val="2F45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13848" y="308152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3.12 · torch 2.8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 1.5 (bf16 24 GB)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149840" y="392277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2F4566"/>
          </a:solidFill>
          <a:ln w="12700">
            <a:solidFill>
              <a:srgbClr val="2F45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13848" y="3922776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g6e.xlarge · x86/ARM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L40S 48 GB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308592" y="2606040"/>
            <a:ext cx="63093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9235440" y="2221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/ gRPC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271576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5~8 MB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&lt; 10 KB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시스템 구성: 호스트별 소프트웨어 스택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아래부터 AWS 인스턴스 → OS·드라이버 → 런타임 → 모델 → 실행 프로세스. 두 호스트는 맨 위 실행 프로세스끼리만 TCP(gRPC :50051)로 연결된다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39903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시뮬레이터 호스트 (x86 필수)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93128" y="139903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추론 호스트 (GPU: x86 또는 ARM)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050" dirty="0"/>
          </a:p>
          <a:p>
            <a:pPr algn="r" indent="0" marL="0">
              <a:buNone/>
            </a:pPr>
            <a:r>
              <a:rPr lang="en-US" sz="1050" b="1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(프로세스)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5351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9359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·</a:t>
            </a:r>
            <a:endParaRPr lang="en-US" sz="1050" dirty="0"/>
          </a:p>
          <a:p>
            <a:pPr algn="r" indent="0" marL="0">
              <a:buNone/>
            </a:pPr>
            <a:r>
              <a:rPr lang="en-US" sz="1050" b="1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3542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· 드라이버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5721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인스턴스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91640" y="5157216"/>
            <a:ext cx="4449928" cy="658368"/>
          </a:xfrm>
          <a:prstGeom prst="rect">
            <a:avLst/>
          </a:prstGeom>
          <a:solidFill>
            <a:srgbClr val="E8F0FC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5157216"/>
            <a:ext cx="4175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g5.2xlarge  ·  x86_64, 8 vCPU, 32 GB RAM  ·  NVIDIA A10G 24 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172.31.38.219  ·  보안그룹: VPC 내부 허용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4535424"/>
            <a:ext cx="4449928" cy="548640"/>
          </a:xfrm>
          <a:prstGeom prst="rect">
            <a:avLst/>
          </a:prstGeom>
          <a:solidFill>
            <a:srgbClr val="E8F0FC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28800" y="4535424"/>
            <a:ext cx="417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Ubuntu 22.04  ·  NVIDIA 드라이버 + Vulkan (CARLA 렌더링)  ·  NICE DCV 서버 :8443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91640" y="3593592"/>
            <a:ext cx="4449928" cy="868680"/>
          </a:xfrm>
          <a:prstGeom prst="rect">
            <a:avLst/>
          </a:prstGeom>
          <a:solidFill>
            <a:srgbClr val="E8F0FC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28800" y="3593592"/>
            <a:ext cx="4175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Unreal Engine 4 (CARLA 0.9.16 바이너리, GPU 약 6 GB)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3.10 venv-sim: carla PythonAPI, grpcio, opencv, pygame, numpy/scipy, psutil, pynvml  —  torch 없음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91640" y="2953512"/>
            <a:ext cx="4449928" cy="566928"/>
          </a:xfrm>
          <a:prstGeom prst="rect">
            <a:avLst/>
          </a:prstGeom>
          <a:solidFill>
            <a:srgbClr val="F7F9F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28800" y="2953512"/>
            <a:ext cx="417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(모델 없음)  궤적·답변은 B에서 gRPC로 받음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1783080"/>
            <a:ext cx="4449928" cy="1097280"/>
          </a:xfrm>
          <a:prstGeom prst="rect">
            <a:avLst/>
          </a:prstGeom>
          <a:solidFill>
            <a:srgbClr val="E8F0FC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1892808"/>
            <a:ext cx="1882064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901952" y="1892808"/>
            <a:ext cx="173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CarlaUE4.sh -RenderOffScreen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 서버 :2000 (localhost 전용)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4대 1080p, 10 Hz tick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56584" y="2331720"/>
            <a:ext cx="320040" cy="0"/>
          </a:xfrm>
          <a:prstGeom prst="line">
            <a:avLst/>
          </a:prstGeom>
          <a:noFill/>
          <a:ln w="19050">
            <a:solidFill>
              <a:srgbClr val="2A6FDB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22344" y="1892808"/>
            <a:ext cx="1882064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95496" y="1892808"/>
            <a:ext cx="173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carlamayo.py --loop closed --async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--inference-server 172.31.20.213:50051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· PID · 리스폰 · 영상 기록 · pygame UI(DCV)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93128" y="5157216"/>
            <a:ext cx="4449928" cy="658368"/>
          </a:xfrm>
          <a:prstGeom prst="rect">
            <a:avLst/>
          </a:prstGeom>
          <a:solidFill>
            <a:srgbClr val="FCEFE4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30288" y="5157216"/>
            <a:ext cx="4175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g6e.xlarge  ·  x86_64, 4 vCPU, 32 GB RAM  ·  NVIDIA L40S 48 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172.31.20.213  ·  VRAM만 맞으면 ARM GPU 인스턴스로 교체 가능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93128" y="4535424"/>
            <a:ext cx="4449928" cy="548640"/>
          </a:xfrm>
          <a:prstGeom prst="rect">
            <a:avLst/>
          </a:prstGeom>
          <a:solidFill>
            <a:srgbClr val="FCEFE4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30288" y="4535424"/>
            <a:ext cx="417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Ubuntu 22.04  ·  NVIDIA 드라이버 (CUDA는 torch 휠에 포함)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93128" y="3593592"/>
            <a:ext cx="4449928" cy="868680"/>
          </a:xfrm>
          <a:prstGeom prst="rect">
            <a:avLst/>
          </a:prstGeom>
          <a:solidFill>
            <a:srgbClr val="FCEFE4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30288" y="3593592"/>
            <a:ext cx="4175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3.12 uv a_venv: torch 2.8 (CUDA 12.x 번들), transformers 4.57,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flash-attn 2.8, bitsandbytes, grpcio + health, opencv, pynvml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93128" y="2953512"/>
            <a:ext cx="4449928" cy="566928"/>
          </a:xfrm>
          <a:prstGeom prst="rect">
            <a:avLst/>
          </a:prstGeom>
          <a:solidFill>
            <a:srgbClr val="FCEFE4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30288" y="2953512"/>
            <a:ext cx="417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 1.5 가중치 (Hugging Face 캐시, bf16 약 24 GB VRAM)  ·  alpamayo1_5 패키지  ·  HF 토큰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93128" y="1783080"/>
            <a:ext cx="4449928" cy="1097280"/>
          </a:xfrm>
          <a:prstGeom prst="rect">
            <a:avLst/>
          </a:prstGeom>
          <a:solidFill>
            <a:srgbClr val="FCEFE4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30288" y="1892808"/>
            <a:ext cx="2839413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03440" y="1892808"/>
            <a:ext cx="269310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alpamayo_server.py --version 1.5 --host 172.31.20.213 --port 50051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gRPC: GetModelInfo / Predict / AnswerQuestion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1회 로드 · 워밍업 · 요청 직렬화 · 프로파일러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261141" y="1892808"/>
            <a:ext cx="1244754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34293" y="1892808"/>
            <a:ext cx="109845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(선택) Jupyter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노트북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4720" y="2221992"/>
            <a:ext cx="905256" cy="0"/>
          </a:xfrm>
          <a:prstGeom prst="line">
            <a:avLst/>
          </a:prstGeom>
          <a:noFill/>
          <a:ln w="25400">
            <a:solidFill>
              <a:srgbClr val="2A6FD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6214720" y="2441448"/>
            <a:ext cx="905256" cy="0"/>
          </a:xfrm>
          <a:prstGeom prst="line">
            <a:avLst/>
          </a:prstGeom>
          <a:noFill/>
          <a:ln w="25400">
            <a:solidFill>
              <a:srgbClr val="E0762B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123280" y="1764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/ gRPC :50051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940400" y="1947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5~8 MB, ~1 Hz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940400" y="24597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&lt; 10 KB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4720" y="4809744"/>
            <a:ext cx="905256" cy="0"/>
          </a:xfrm>
          <a:prstGeom prst="line">
            <a:avLst/>
          </a:prstGeom>
          <a:noFill/>
          <a:ln w="12700">
            <a:solidFill>
              <a:srgbClr val="6B7A8C"/>
            </a:solidFill>
            <a:prstDash val="dash"/>
            <a:headEnd type="triangle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940400" y="45171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· rsync/scp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95274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A에는 모델과 torch가 없고, B에는 CARLA와 pygame이 없다. 두 호스트가 공유하는 것은 gRPC 계약(.proto)과 실행 결과 폴더 이름(run_id)이다.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구조 비교: 단일 호스트(업스트림)와 두 호스트(데모)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그림은 같은 컴포넌트 집합으로 그렸다. ①~④는 closed-loop 한 사이클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전: 업스트림 Carlamayo, 단일 호스트</a:t>
            </a:r>
            <a:endParaRPr lang="en-US" sz="1100" dirty="0"/>
          </a:p>
        </p:txBody>
      </p:sp>
      <p:pic>
        <p:nvPicPr>
          <p:cNvPr id="7" name="Image 0" descr="current-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8503920" cy="20934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922239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후: 이번 데모, 두 호스트</a:t>
            </a:r>
            <a:endParaRPr lang="en-US" sz="1100" dirty="0"/>
          </a:p>
        </p:txBody>
      </p:sp>
      <p:pic>
        <p:nvPicPr>
          <p:cNvPr id="9" name="Image 1" descr="split-deploy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96559"/>
            <a:ext cx="8503920" cy="16378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326880" y="1371600"/>
            <a:ext cx="2316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달라지는 항목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326880" y="1755648"/>
            <a:ext cx="2316175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 상자</a:t>
            </a:r>
            <a:endParaRPr lang="en-US" sz="1100" dirty="0"/>
          </a:p>
          <a:p>
            <a:pPr lvl="1" marL="3556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AlpamayoAdapter(로컬, 모델을 같은 프로세스에 로드) → RemoteAlpamayoAdapter(gRPC 클라이언트, JPEG 인코딩, run_id 전달)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상자의 위치</a:t>
            </a:r>
            <a:endParaRPr lang="en-US" sz="1100" dirty="0"/>
          </a:p>
          <a:p>
            <a:pPr lvl="1" marL="3556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프로세스 안 → B의 alpamayo_server.py 프로세스 안. 사이를 양방향 gRPC(② 요청 / ③ 응답)로 연결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endParaRPr lang="en-US" sz="1100" dirty="0"/>
          </a:p>
          <a:p>
            <a:pPr lvl="1" marL="3556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1장 공유(또는 2장) → A의 A10G(CARLA 6 GB)와 B의 L40S(모델 24 GB)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것</a:t>
            </a:r>
            <a:endParaRPr lang="en-US" sz="1100" dirty="0"/>
          </a:p>
          <a:p>
            <a:pPr lvl="1" marL="3556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 프로세스, CARLAInterface, 루프, OfficialPIDFollower, pygame UI, 포트, ①·④ 경로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Alpamayo open-loop 테스트 환경 구조 (NVIDIA 노트북)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호스트 1대의 Jupyter 프로세스 안에서 끝난다. 시뮬레이터·제어기·네트워크가 없고, ④(제어 명령)에 해당하는 단계가 없다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pic>
        <p:nvPicPr>
          <p:cNvPr id="6" name="Image 0" descr="official-open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13443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035989"/>
            <a:ext cx="531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하는가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0037"/>
            <a:ext cx="531860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PhysicalAI-AV 실차 데이터셋의 클립 1개(Hugging Face 스트리밍). 카메라 4대 × 최근 4프레임 + 자차 이력 16스텝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처리: helper.create_message → sample_trajectories_from_data_with_vlm_rollout → Alpamayo 1.5 (bf16, 약 24 GB VRAM)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CoC(Chain-of-Causation) 문장, 6.4초 예측 궤적 64점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평가: 데이터셋의 실제 주행 궤적(GT)과 겹쳐 그리고 minADE(m) 계산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324448" y="3035989"/>
            <a:ext cx="531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closed-loop와 다른 점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24448" y="3420037"/>
            <a:ext cx="531860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예측이 차량에 적용되지 않는다. 한 장면에 대한 한 번의 예측으로 끝난다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실차 녹화 클립이다. 데모는 CARLA가 실시간으로 렌더링한 카메라 영상이다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데이터 로더가 같은 프로세스(Jupyter)에 있다. 데모는 모델만 B에 두고 gRPC로 호출한다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지표가 minADE다. 데모는 주행 결과 관찰과 자원 실측이다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open-loop 테스트 환경과 데모 환경 비교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모델(Alpamayo 1.5)을 녹화 클립 재생·평가에서 실시간 주행으로, 한 호스트에서 두 인스턴스로 옮겼다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663440"/>
                <a:gridCol w="50566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Alpamayo open-loop 테스트 (NVIDIA 노트북)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데모: 두 인스턴스 closed-loop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PhysicalAI-AV 실차 데이터셋 클립 1개 (Hugging Face 스트리밍) 재생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CARLA 시뮬레이터의 카메라 영상 (4대, 1080p)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 주체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없음. 예측 궤적을 그림·지표로만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모델. 예측 궤적을 PID 제어기가 실제 조향·가감속에 적용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vs 실제 궤적 minADE, CoC 문장, 궤적 그림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주행 결과 관찰(차선 유지·회전·정지) + navigation/VQA 반응 + 자원 실측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하드웨어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1대에서 노트북 실행 (bf16 약 24 GB)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A: x86 + A10G (CARLA 전용) / B: L40S 48 GB (모델 전용). 서로 다른 인스턴스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추론 시간 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 + JPEG 인코딩·디코딩 (0.1~0.4 s) + 네트워크 왕복 (&lt; 1 ms). 병목은 여전히 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B에서 한 번 로드 후 상주. 클라이언트는 수 초 내 시작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궤적이 6초보다 오래되면 정지. 클라이언트·CARLA를 재시작해도 서버 유지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데모에서 보여줄 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인스턴스에서 자율주행이 되는지, 조작이 실시간으로 반영되는지, 어디가 느린지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17320"/>
            <a:ext cx="258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인스턴스 closed-loop 자율주행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56232"/>
            <a:ext cx="258561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CARLA는 A, 모델은 B. 동기 모드로 주행 품질을 보이고(추론 중 화면 멈춤은 정상), 비동기 모드로 실시간성과 궤적 나이를 보인다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카메라 영상 위 궤적(빨간 선)과 추론 근거(CoT)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차선 유지, 교차로 정지·회전, 앞차에 맞춘 감속. 네트워크가 끊기면 6초 뒤 정지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68698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237378" y="1417320"/>
            <a:ext cx="258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navigation(CFG)·VQA 실시간 반영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37378" y="1856232"/>
            <a:ext cx="258561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중 창에 자연어 지시("Turn right in 30m")와 CFG 가중치(1.5) 입력 → 다음 추론부터 반영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차량을 세우고 "What is ahead?" 질문 → 수 초 내 답 표시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패널 Active nav 줄이 바뀌는지, 지시 후 궤적 변화, 가중치 1.0 vs 1.5 차이. 지시는 지울 때까지 유지되므로 회전 후 해제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88757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9057437" y="1417320"/>
            <a:ext cx="258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자원 데이터로 병목 분석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57437" y="1856232"/>
            <a:ext cx="258561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A·B 양쪽에서 자동 기록: 요청 왕복 시간, 서버 추론 시간, 요청 크기, 업로드 대역폭, 궤적 나이, GPU 메모리·사용률, CPU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 시간 − 서버 처리 시간 = 네트워크 + 인코딩 오버헤드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예상: 모델 추론(수 초) ≫ 인코딩(0.1~0.3 s) ≫ 네트워크(&lt; 1 ms)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순서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962851" cy="548640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02920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open-loop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50992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 데이터 재생으로 원격 추론 경로 검증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57211" y="5303520"/>
            <a:ext cx="228600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31531" y="5029200"/>
            <a:ext cx="1962851" cy="548640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15875">
            <a:solidFill>
              <a:srgbClr val="2A6F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68691" y="502920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closed-loop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831531" y="5650992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운전 (동기 → 비동기)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0102" y="5303520"/>
            <a:ext cx="228600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14422" y="5029200"/>
            <a:ext cx="1962851" cy="548640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15875">
            <a:solidFill>
              <a:srgbClr val="E076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51582" y="502920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navigation + CFG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114422" y="5650992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중 지시·가중치 입력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22993" y="5303520"/>
            <a:ext cx="228600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97313" y="5029200"/>
            <a:ext cx="1962851" cy="548640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15875">
            <a:solidFill>
              <a:srgbClr val="E076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34473" y="502920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VQA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397313" y="5650992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정차 후 질문·답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05884" y="5303520"/>
            <a:ext cx="228600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80204" y="5029200"/>
            <a:ext cx="1962851" cy="548640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17364" y="502920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측정 결과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680204" y="5650992"/>
            <a:ext cx="19628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표·그래프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시뮬레이터와 추론 모델을 서로 다른 인스턴스에 두고 gRPC로 연결해도 closed-loop 테스트가 성립한다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54480"/>
            <a:ext cx="258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환경 closed-loop 테스트 수행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93392"/>
            <a:ext cx="258561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시뮬레이터(A)와 추론 서버(B)를 gRPC로 연결해, 모델이 낸 궤적으로 CARLA 차량이 실제로 주행하는 closed-loop를 확인했다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navigation(CFG)과 VQA도 같은 요청/응답 경로로 동작한다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루프·PID·UI 코드는 업스트림 그대로이고 어댑터만 원격으로 바뀌었다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368698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237378" y="1554480"/>
            <a:ext cx="258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선택 유연성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37378" y="1993392"/>
            <a:ext cx="258561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CARLA의 x86 요구와 Alpamayo의 VRAM 요구를 서로 다른 인스턴스로 따로 만족시키면 된다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호스트는 VRAM 기준으로만 고른다. ARM GPU 인스턴스도 후보가 된다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키우거나(Alpamayo 2, 7카메라) 샘플 수·CFG를 늘릴 때 B만 교체하고 시뮬레이터 호스트는 그대로 둔다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188757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9057437" y="1554480"/>
            <a:ext cx="258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57437" y="1993392"/>
            <a:ext cx="258561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요구를 모두 만족하는 대형 단일 GPU 인스턴스가 필요 없다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없는 쪽만 정지한다. open-loop·노트북 실험 때는 A, 데이터 수집 때는 B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비교: [요금표 확인 후 기입]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부록: 용어집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075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(Classifier-Free Guidance)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307592"/>
            <a:ext cx="8534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지시를 얼마나 강하게 따를지 정하는 가중치. 지시 있음/없음 두 예측을 섞어 계산하며 값이 클수록 지시를 우선한다. 1.0이 기본, 데모는 1.5. 커질수록 계산량과 VRAM이 늘어난다.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1109441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93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VQA (Visual Question Answering)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929384"/>
            <a:ext cx="8534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영상에 대해 자연어로 질문하면 모델이 텍스트로 답하는 모드. 궤적을 내지 않으므로 차량은 정지한 상태에서 질문하고 답을 확인한다.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1109441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5511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open-loop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551176"/>
            <a:ext cx="8534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녹화된 주행 데이터를 재생하며 모델의 예측만 얻는다. 예측이 차량에 영향을 주지 않아 모델 단독 평가와 두 경로(로컬·원격)의 결과 비교에 쓴다.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1109441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72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closed-loop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172968"/>
            <a:ext cx="8534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낸 궤적을 PID 제어기가 실제 조향·가감속에 적용하고, 그 결과 장면이 다음 입력이 된다. 동기 모드는 추론 중 세계를 멈추고, 비동기(--async) 모드는 세계가 계속 진행된다.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21608"/>
            <a:ext cx="1109441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ADE / FDE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794760"/>
            <a:ext cx="8534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궤적과 실제 궤적의 평균 거리 오차(Average Displacement Error)와 마지막 점의 오차(Final Displacement Error), 단위 m. 여러 샘플 중 가장 좋은 값을 고르면 minADE.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9441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16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 NF4 양자화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4416552"/>
            <a:ext cx="8534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가중치를 4비트 NormalFloat 형식으로 저장해 VRAM을 약 1/4로 줄이는 방법(bitsandbytes). 정밀도가 조금 떨어질 수 있다. 24 GB GPU 한 대에서 모델과 CARLA를 함께 돌릴 때 필요했다.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65192"/>
            <a:ext cx="1109441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0383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OOM-free 모드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5038344"/>
            <a:ext cx="8534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레이어를 CPU 메모리에 두고 필요한 것만 GPU로 옮겨 가며 실행해 VRAM 부족(Out Of Memory)을 피하는 방식. 느리지만 작은 GPU에서도 돈다. Alpamayo 1.5 전용.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86984"/>
            <a:ext cx="1109441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660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gRPC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5660136"/>
            <a:ext cx="8534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HTTP/2와 Protocol Buffers 위에서 동작하는 원격 호출 프레임워크. 메시지 형식을 .proto 파일로 고정해 두 호스트가 같은 계약을 쓰고, 시작 시 버전·설정 불일치를 바로 잡아낸다.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208776"/>
            <a:ext cx="1109441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Carlamayo 분산 데모 오버뷰 (요약)</dc:title>
  <dc:subject>PptxGenJS Presentation</dc:subject>
  <dc:creator>Carlamayo distributed demo</dc:creator>
  <cp:lastModifiedBy>Carlamayo distributed demo</cp:lastModifiedBy>
  <cp:revision>1</cp:revision>
  <dcterms:created xsi:type="dcterms:W3CDTF">2026-10-01T07:57:58Z</dcterms:created>
  <dcterms:modified xsi:type="dcterms:W3CDTF">2026-10-01T07:57:58Z</dcterms:modified>
</cp:coreProperties>
</file>