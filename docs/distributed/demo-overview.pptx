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A41"/>
                </a:solidFill>
                <a:latin typeface="Malgun Gothic"/>
              </a:defRPr>
            </a:pPr>
            <a:r>
              <a:rPr sz="1200" b="0" i="0" u="none" strike="noStrike">
                <a:solidFill>
                  <a:srgbClr val="1B2A41"/>
                </a:solidFill>
                <a:latin typeface="Malgun Gothic"/>
              </a:rPr>
              <a:t>VRAM 기준 (공식 값, GB)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VRAM (GB)</c:v>
                </c:pt>
              </c:strCache>
            </c:strRef>
          </c:tx>
          <c:spPr>
            <a:solidFill>
              <a:srgbClr val="E076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313F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76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076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5471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B7A8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7B5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1샘플 (데모 기본)</c:v>
                  </c:pt>
                  <c:pt idx="1">
                    <c:v>16샘플</c:v>
                  </c:pt>
                  <c:pt idx="2">
                    <c:v>16샘플 + CFG</c:v>
                  </c:pt>
                  <c:pt idx="3">
                    <c:v>B L40S 용량</c:v>
                  </c:pt>
                  <c:pt idx="4">
                    <c:v>A10G 용량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</c:v>
                </c:pt>
                <c:pt idx="1">
                  <c:v>40</c:v>
                </c:pt>
                <c:pt idx="2">
                  <c:v>60</c:v>
                </c:pt>
                <c:pt idx="3">
                  <c:v>48</c:v>
                </c:pt>
                <c:pt idx="4">
                  <c:v>24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24313F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4313F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b"/>
        <c:majorGridlines>
          <c:spPr>
            <a:ln w="6350" cap="flat">
              <a:solidFill>
                <a:srgbClr val="D5DB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A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6675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CARLA와 Alpamayo를 서로 다른 인스턴스에서 돌리는 closed-loop 자율주행 데모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1752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시뮬레이터는 x86 인스턴스, 모델은 GPU 인스턴스. 둘을 gRPC로 잇고 open-loop · closed-loop · navigation(CFG) · VQA를 시연한다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4069080"/>
            <a:ext cx="1197864" cy="384048"/>
          </a:xfrm>
          <a:prstGeom prst="roundRect">
            <a:avLst>
              <a:gd name="adj" fmla="val 50000"/>
            </a:avLst>
          </a:prstGeom>
          <a:solidFill>
            <a:srgbClr val="2A3B55"/>
          </a:solidFill>
          <a:ln w="12700">
            <a:solidFill>
              <a:srgbClr val="4C6A9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4069080"/>
            <a:ext cx="1197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open-loop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883664" y="4069080"/>
            <a:ext cx="1399032" cy="384048"/>
          </a:xfrm>
          <a:prstGeom prst="roundRect">
            <a:avLst>
              <a:gd name="adj" fmla="val 50000"/>
            </a:avLst>
          </a:prstGeom>
          <a:solidFill>
            <a:srgbClr val="2A3B55"/>
          </a:solidFill>
          <a:ln w="12700">
            <a:solidFill>
              <a:srgbClr val="4C6A9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883664" y="4069080"/>
            <a:ext cx="1399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19856" y="4069080"/>
            <a:ext cx="1901952" cy="384048"/>
          </a:xfrm>
          <a:prstGeom prst="roundRect">
            <a:avLst>
              <a:gd name="adj" fmla="val 50000"/>
            </a:avLst>
          </a:prstGeom>
          <a:solidFill>
            <a:srgbClr val="2A3B55"/>
          </a:solidFill>
          <a:ln w="12700">
            <a:solidFill>
              <a:srgbClr val="4C6A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19856" y="4069080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(CFG)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58968" y="4069080"/>
            <a:ext cx="594360" cy="384048"/>
          </a:xfrm>
          <a:prstGeom prst="roundRect">
            <a:avLst>
              <a:gd name="adj" fmla="val 50000"/>
            </a:avLst>
          </a:prstGeom>
          <a:solidFill>
            <a:srgbClr val="2A3B55"/>
          </a:solidFill>
          <a:ln w="12700">
            <a:solidFill>
              <a:srgbClr val="4C6A9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58968" y="4069080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8064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2026-10-01   ·   발표자: ____________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0" y="1554480"/>
            <a:ext cx="1920240" cy="3291840"/>
          </a:xfrm>
          <a:prstGeom prst="roundRect">
            <a:avLst>
              <a:gd name="adj" fmla="val 4762"/>
            </a:avLst>
          </a:prstGeom>
          <a:solidFill>
            <a:srgbClr val="243650"/>
          </a:solidFill>
          <a:ln w="19050">
            <a:solidFill>
              <a:srgbClr val="2A6F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24928" y="1664208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· 시뮬레이션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452360" y="2240280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2F4566"/>
          </a:solidFill>
          <a:ln w="12700">
            <a:solidFill>
              <a:srgbClr val="2F456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16368" y="2240280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0.9.16 서버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carlamayo.py 루프·PID·UI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452360" y="3081528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2F4566"/>
          </a:solidFill>
          <a:ln w="12700">
            <a:solidFill>
              <a:srgbClr val="2F45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16368" y="3081528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3.10 (torch 없음)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Unreal Engine 4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452360" y="3922776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2F4566"/>
          </a:solidFill>
          <a:ln w="12700">
            <a:solidFill>
              <a:srgbClr val="2F45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16368" y="3922776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g5.2xlarge · x86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A10G 24 GB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0012680" y="1554480"/>
            <a:ext cx="1920240" cy="3291840"/>
          </a:xfrm>
          <a:prstGeom prst="roundRect">
            <a:avLst>
              <a:gd name="adj" fmla="val 4762"/>
            </a:avLst>
          </a:prstGeom>
          <a:solidFill>
            <a:srgbClr val="243650"/>
          </a:solidFill>
          <a:ln w="19050">
            <a:solidFill>
              <a:srgbClr val="E0762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122408" y="1664208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· 추론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149840" y="2240280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2F4566"/>
          </a:solidFill>
          <a:ln w="12700">
            <a:solidFill>
              <a:srgbClr val="2F456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213848" y="2240280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alpamayo_server.py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 :50051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10149840" y="3081528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2F4566"/>
          </a:solidFill>
          <a:ln w="12700">
            <a:solidFill>
              <a:srgbClr val="2F456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213848" y="3081528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3.12 · torch 2.8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1.5 (bf16 24 GB)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0149840" y="3922776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2F4566"/>
          </a:solidFill>
          <a:ln w="12700">
            <a:solidFill>
              <a:srgbClr val="2F456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213848" y="3922776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g6e.xlarge · x86/ARM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L40S 48 GB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308592" y="2606040"/>
            <a:ext cx="630936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  <a:headEnd type="triangle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9235440" y="222199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TCP / gRPC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9144000" y="2715768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5~8 MB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&lt; 10 KB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개요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인스턴스에서 자율주행이 되는지, 조작이 실시간으로 반영되는지, 어디가 느린지를 보인다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463040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인스턴스 closed-loop 자율주행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1901952"/>
            <a:ext cx="58978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CARLA는 A(x86, A10G), Alpamayo 1.5는 B(L40S 48 GB). 두 인스턴스가 gRPC로만 연결된 채 모델이 차를 운전한다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926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3017520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navigation(자연어 + CFG 가중치)·VQA 실시간 반영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456432"/>
            <a:ext cx="58978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 중 창에 지시를 입력하면 다음 추론부터 궤적이 바뀐다. 정차 후 질문하면 모델이 답한다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80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4572000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자원 데이터로 병목 분석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5010912"/>
            <a:ext cx="58978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A·B 양쪽에서 자동 기록한 왕복 시간·추론 시간·대역폭·GPU/CPU를 표와 그래프로 정리한다. 분리 비용이 어디에 얼마나 붙는지 확인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순서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138160" y="2103120"/>
            <a:ext cx="0" cy="3566160"/>
          </a:xfrm>
          <a:prstGeom prst="line">
            <a:avLst/>
          </a:prstGeom>
          <a:noFill/>
          <a:ln w="25400">
            <a:solidFill>
              <a:srgbClr val="D5DB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91856" y="1956816"/>
            <a:ext cx="292608" cy="292608"/>
          </a:xfrm>
          <a:prstGeom prst="ellipse">
            <a:avLst/>
          </a:prstGeom>
          <a:solidFill>
            <a:srgbClr val="1B2A4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91856" y="1956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1938528"/>
            <a:ext cx="3139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open-loop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2249424"/>
            <a:ext cx="3139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녹화 데이터 재생으로 원격 추론 경로 검증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991856" y="2825496"/>
            <a:ext cx="292608" cy="292608"/>
          </a:xfrm>
          <a:prstGeom prst="ellipse">
            <a:avLst/>
          </a:prstGeom>
          <a:solidFill>
            <a:srgbClr val="2A6F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91856" y="2825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8458200" y="2807208"/>
            <a:ext cx="3139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458200" y="3118104"/>
            <a:ext cx="3139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운전 (비동기 모드, pygame 화면)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991856" y="3694176"/>
            <a:ext cx="292608" cy="292608"/>
          </a:xfrm>
          <a:prstGeom prst="ellipse">
            <a:avLst/>
          </a:prstGeom>
          <a:solidFill>
            <a:srgbClr val="E0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991856" y="3694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8458200" y="3675888"/>
            <a:ext cx="3139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+ CFG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8458200" y="3986784"/>
            <a:ext cx="3139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 중 지시·가중치 입력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991856" y="4562856"/>
            <a:ext cx="292608" cy="292608"/>
          </a:xfrm>
          <a:prstGeom prst="ellipse">
            <a:avLst/>
          </a:prstGeom>
          <a:solidFill>
            <a:srgbClr val="E0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991856" y="45628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8458200" y="4544568"/>
            <a:ext cx="3139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8458200" y="4855464"/>
            <a:ext cx="3139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정차 후 질문·답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991856" y="5431536"/>
            <a:ext cx="292608" cy="292608"/>
          </a:xfrm>
          <a:prstGeom prst="ellipse">
            <a:avLst/>
          </a:prstGeom>
          <a:solidFill>
            <a:srgbClr val="1B2A4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991856" y="5431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8458200" y="5413248"/>
            <a:ext cx="3139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결과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8458200" y="5724144"/>
            <a:ext cx="3139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표·그래프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시스템 구성: 호스트별 소프트웨어 스택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아래부터 AWS 인스턴스 → OS·드라이버 → 런타임 → 모델 → 실행 프로세스. 두 호스트는 맨 위 실행 프로세스끼리만 TCP(gRPC :50051)로 연결된다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399032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시뮬레이터 호스트 (x86 필수)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93128" y="1399032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추론 호스트 (GPU: x86 또는 ARM)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783080"/>
            <a:ext cx="1005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(프로세스)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95351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93592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런타임 ·</a:t>
            </a:r>
            <a:endParaRPr lang="en-US" sz="1050" dirty="0"/>
          </a:p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라이브러리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535424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 · 드라이버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157216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인스턴스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691640" y="5157216"/>
            <a:ext cx="4449928" cy="658368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0" y="5157216"/>
            <a:ext cx="4175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g5.2xlarge  ·  x86_64, 8 vCPU, 32 GB RAM  ·  NVIDIA A10G 24 GB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172.31.38.219  ·  보안그룹: VPC 내부 허용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691640" y="4535424"/>
            <a:ext cx="4449928" cy="54864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8800" y="4535424"/>
            <a:ext cx="4175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Ubuntu 22.04  ·  NVIDIA 드라이버 + Vulkan (CARLA 렌더링)  ·  NICE DCV 서버 :8443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691640" y="3593592"/>
            <a:ext cx="4449928" cy="86868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28800" y="3593592"/>
            <a:ext cx="4175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Unreal Engine 4 (CARLA 0.9.16 바이너리, GPU 약 6 GB)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3.10 venv-sim: carla PythonAPI, grpcio, opencv, pygame, numpy/scipy, psutil, pynvml  —  torch 없음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691640" y="2953512"/>
            <a:ext cx="4449928" cy="566928"/>
          </a:xfrm>
          <a:prstGeom prst="rect">
            <a:avLst/>
          </a:prstGeom>
          <a:solidFill>
            <a:srgbClr val="F7F9F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28800" y="2953512"/>
            <a:ext cx="417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(모델 없음)  궤적·답변은 B에서 gRPC로 받음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691640" y="1783080"/>
            <a:ext cx="4449928" cy="109728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0" y="1892808"/>
            <a:ext cx="188206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901952" y="1892808"/>
            <a:ext cx="1735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CarlaUE4.sh -RenderOffScreen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서버 :2000 (localhost 전용)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4대 1080p, 10 Hz tick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756584" y="2331720"/>
            <a:ext cx="320040" cy="0"/>
          </a:xfrm>
          <a:prstGeom prst="line">
            <a:avLst/>
          </a:prstGeom>
          <a:noFill/>
          <a:ln w="19050">
            <a:solidFill>
              <a:srgbClr val="2A6FDB"/>
            </a:solidFill>
            <a:prstDash val="solid"/>
            <a:headEnd type="triangl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122344" y="1892808"/>
            <a:ext cx="188206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195496" y="1892808"/>
            <a:ext cx="1735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carlamayo.py --loop closed --async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--inference-server 172.31.20.213:50051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 · PID · 리스폰 · 영상 기록 · pygame UI(DCV)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193128" y="5157216"/>
            <a:ext cx="4449928" cy="658368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30288" y="5157216"/>
            <a:ext cx="4175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g6e.xlarge  ·  x86_64, 4 vCPU, 32 GB RAM  ·  NVIDIA L40S 48 GB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172.31.20.213  ·  VRAM만 맞으면 ARM GPU 인스턴스로 교체 가능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93128" y="4535424"/>
            <a:ext cx="4449928" cy="54864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30288" y="4535424"/>
            <a:ext cx="4175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Ubuntu 22.04  ·  NVIDIA 드라이버 (CUDA는 torch 휠에 포함)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193128" y="3593592"/>
            <a:ext cx="4449928" cy="86868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330288" y="3593592"/>
            <a:ext cx="4175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3.12 uv a_venv: torch 2.8 (CUDA 12.x 번들), transformers 4.57,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flash-attn 2.8, bitsandbytes, grpcio + health, opencv, pynvml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193128" y="2953512"/>
            <a:ext cx="4449928" cy="566928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30288" y="2953512"/>
            <a:ext cx="417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1.5 가중치 (Hugging Face 캐시, bf16 약 24 GB VRAM)  ·  alpamayo1_5 패키지  ·  HF 토큰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193128" y="1783080"/>
            <a:ext cx="4449928" cy="109728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30288" y="1892808"/>
            <a:ext cx="2839413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03440" y="1892808"/>
            <a:ext cx="2693109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alpamayo_server.py --version 1.5 --host 172.31.20.213 --port 50051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gRPC: GetModelInfo / Predict / AnswerQuestion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1회 로드 · 워밍업 · 요청 직렬화 · 프로파일러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0261141" y="1892808"/>
            <a:ext cx="124475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334293" y="1892808"/>
            <a:ext cx="109845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(선택) Jupyter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노트북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14720" y="2221992"/>
            <a:ext cx="905256" cy="0"/>
          </a:xfrm>
          <a:prstGeom prst="line">
            <a:avLst/>
          </a:prstGeom>
          <a:noFill/>
          <a:ln w="25400">
            <a:solidFill>
              <a:srgbClr val="2A6FDB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 flipH="1">
            <a:off x="6214720" y="2441448"/>
            <a:ext cx="905256" cy="0"/>
          </a:xfrm>
          <a:prstGeom prst="line">
            <a:avLst/>
          </a:prstGeom>
          <a:noFill/>
          <a:ln w="25400">
            <a:solidFill>
              <a:srgbClr val="E0762B"/>
            </a:solidFill>
            <a:prstDash val="solid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6123280" y="1764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TCP / gRPC :50051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5940400" y="194767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5~8 MB, ~1 Hz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940400" y="24597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&lt; 10 KB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214720" y="4809744"/>
            <a:ext cx="905256" cy="0"/>
          </a:xfrm>
          <a:prstGeom prst="line">
            <a:avLst/>
          </a:prstGeom>
          <a:noFill/>
          <a:ln w="12700">
            <a:solidFill>
              <a:srgbClr val="6B7A8C"/>
            </a:solidFill>
            <a:prstDash val="dash"/>
            <a:headEnd type="triangle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5940400" y="45171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SSH · rsync/scp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59253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원칙: ① 시뮬레이션 제어 루프는 CARLA 옆(A)에 두어 300~600 MB/s의 센서 트래픽을 loopback에 가둔다  ② 모델은 B에서 한 번만 로드해 상주시킨다  ③ 기존 어댑터 인터페이스를 그대로 원격화해 루프 코드는 로컬 모델인지 gRPC인지 구분하지 않는다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구조 비교: 단일 호스트(업스트림)와 두 호스트(데모)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그림은 같은 컴포넌트 집합으로 그렸다. ①~④는 closed-loop 한 사이클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 전: 업스트림 Carlamayo, 단일 호스트</a:t>
            </a:r>
            <a:endParaRPr lang="en-US" sz="1100" dirty="0"/>
          </a:p>
        </p:txBody>
      </p:sp>
      <p:pic>
        <p:nvPicPr>
          <p:cNvPr id="7" name="Image 0" descr="current-deploy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8503920" cy="209343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3922239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 후: 이번 데모, 두 호스트</a:t>
            </a:r>
            <a:endParaRPr lang="en-US" sz="1100" dirty="0"/>
          </a:p>
        </p:txBody>
      </p:sp>
      <p:pic>
        <p:nvPicPr>
          <p:cNvPr id="9" name="Image 1" descr="split-deploym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96559"/>
            <a:ext cx="8503920" cy="16378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326880" y="1371600"/>
            <a:ext cx="2316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달라지는 항목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9326880" y="1755648"/>
            <a:ext cx="2316175" cy="437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어댑터 상자</a:t>
            </a:r>
            <a:endParaRPr lang="en-US" sz="1100" dirty="0"/>
          </a:p>
          <a:p>
            <a:pPr lvl="1" marL="3556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AlpamayoAdapter(로컬, 모델을 같은 프로세스에 로드) → RemoteAlpamayoAdapter(gRPC 클라이언트, JPEG 인코딩, run_id 전달)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상자의 위치</a:t>
            </a:r>
            <a:endParaRPr lang="en-US" sz="1100" dirty="0"/>
          </a:p>
          <a:p>
            <a:pPr lvl="1" marL="3556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 프로세스 안 → B의 alpamayo_server.py 프로세스 안. 사이를 양방향 gRPC(② 요청 / ③ 응답)로 연결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</a:t>
            </a:r>
            <a:endParaRPr lang="en-US" sz="1100" dirty="0"/>
          </a:p>
          <a:p>
            <a:pPr lvl="1" marL="3556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1장 공유(또는 2장) → A의 A10G(CARLA 6 GB)와 B의 L40S(모델 24 GB)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것</a:t>
            </a:r>
            <a:endParaRPr lang="en-US" sz="1100" dirty="0"/>
          </a:p>
          <a:p>
            <a:pPr lvl="1" marL="3556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프로세스, CARLAInterface, 루프, OfficialPIDFollower, pygame UI, 포트, ①·④ 경로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Alpamayo open-loop 테스트 환경 구조 (NVIDIA 노트북)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호스트 1대의 Jupyter 프로세스 안에서 끝난다. 시뮬레이터·제어기·네트워크가 없고, ④(제어 명령)에 해당하는 단계가 없다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pic>
        <p:nvPicPr>
          <p:cNvPr id="6" name="Image 0" descr="official-open-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1094415" cy="134434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3035989"/>
            <a:ext cx="531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하는가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420037"/>
            <a:ext cx="531860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입력: PhysicalAI-AV 실차 데이터셋의 클립 1개(Hugging Face 스트리밍). 카메라 4대 × 최근 4프레임 + 자차 이력 16스텝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처리: helper.create_message → sample_trajectories_from_data_with_vlm_rollout → Alpamayo 1.5 (bf16, 약 24 GB VRAM)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출력: CoC(Chain-of-Causation) 문장, 6.4초 예측 궤적 64점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평가: 데이터셋의 실제 주행 궤적(GT)과 겹쳐 그리고 minADE(m) 계산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324448" y="3035989"/>
            <a:ext cx="531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closed-loop와 다른 점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24448" y="3420037"/>
            <a:ext cx="531860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예측이 차량에 적용되지 않는다. 한 장면에 대한 한 번의 예측으로 끝난다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입력이 실차 녹화 클립이다. 데모는 CARLA가 실시간으로 렌더링한 카메라 영상이다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모델과 데이터 로더가 같은 프로세스(Jupyter)에 있다. 데모는 모델만 B에 두고 gRPC로 호출한다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지표가 minADE다. 데모는 주행 결과 관찰과 자원 실측이다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사이에 오가는 데이터: gRPC 호출 3종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프롬프트·가중치·질문은 모두 A의 요청에 실려 가므로 B는 서버만 켜 두면 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600200" cy="1051560"/>
          </a:xfrm>
          <a:prstGeom prst="roundRect">
            <a:avLst>
              <a:gd name="adj" fmla="val 5217"/>
            </a:avLst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417320"/>
            <a:ext cx="1453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GetModelInfo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0042855" y="1417320"/>
            <a:ext cx="1600200" cy="1051560"/>
          </a:xfrm>
          <a:prstGeom prst="roundRect">
            <a:avLst>
              <a:gd name="adj" fmla="val 5217"/>
            </a:avLst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116007" y="1417320"/>
            <a:ext cx="1453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서버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286000" y="1687068"/>
            <a:ext cx="7619695" cy="0"/>
          </a:xfrm>
          <a:prstGeom prst="line">
            <a:avLst/>
          </a:prstGeom>
          <a:noFill/>
          <a:ln w="25400">
            <a:solidFill>
              <a:srgbClr val="2A6FDB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2377440" y="1453896"/>
            <a:ext cx="7436815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 프로토콜 버전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 flipH="1">
            <a:off x="2286000" y="2199132"/>
            <a:ext cx="7619695" cy="0"/>
          </a:xfrm>
          <a:prstGeom prst="line">
            <a:avLst/>
          </a:prstGeom>
          <a:noFill/>
          <a:ln w="25400">
            <a:solidFill>
              <a:srgbClr val="E0762B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2377440" y="2235708"/>
            <a:ext cx="7436815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 모델 버전, 카메라 배치, 지원 기능(navigation/VQA), 설정값(프레임 수·이미지 크기·궤적 샘플 수), 워밍업 여부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377440" y="1741932"/>
            <a:ext cx="7436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 시작 시 1회 · &lt; 1 KB · 설정이 다르면 시작 거부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2651760"/>
            <a:ext cx="1600200" cy="1371600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" y="2651760"/>
            <a:ext cx="14538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Predict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0042855" y="2651760"/>
            <a:ext cx="1600200" cy="1371600"/>
          </a:xfrm>
          <a:prstGeom prst="roundRect">
            <a:avLst>
              <a:gd name="adj" fmla="val 4000"/>
            </a:avLst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16007" y="2651760"/>
            <a:ext cx="14538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서버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0" y="3081528"/>
            <a:ext cx="7619695" cy="0"/>
          </a:xfrm>
          <a:prstGeom prst="line">
            <a:avLst/>
          </a:prstGeom>
          <a:noFill/>
          <a:ln w="25400">
            <a:solidFill>
              <a:srgbClr val="2A6FDB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2377440" y="2688336"/>
            <a:ext cx="743681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 카메라 4대 × 4프레임(JPEG q95), 자차 이력 16개(위치·회전), 시각 t0, navigation 텍스트 + CFG 가중치, 메타(frame, 프롬프트/리스폰 revision, run_id), 시드(선택)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 flipH="1">
            <a:off x="2286000" y="3593592"/>
            <a:ext cx="7619695" cy="0"/>
          </a:xfrm>
          <a:prstGeom prst="line">
            <a:avLst/>
          </a:prstGeom>
          <a:noFill/>
          <a:ln w="25400">
            <a:solidFill>
              <a:srgbClr val="E0762B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2377440" y="3630168"/>
            <a:ext cx="743681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 궤적 (샘플 S × 64점 × 3D), CoT 텍스트, 서버 타이밍(디코딩·전처리·추론 초), VRAM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377440" y="3136392"/>
            <a:ext cx="7436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 / live-open 약 1 Hz, open-loop 프레임마다 · 요청 5~8 MB / 응답 &lt; 10 KB · 타임아웃 120 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4206240"/>
            <a:ext cx="1600200" cy="1051560"/>
          </a:xfrm>
          <a:prstGeom prst="roundRect">
            <a:avLst>
              <a:gd name="adj" fmla="val 5217"/>
            </a:avLst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" y="4206240"/>
            <a:ext cx="1453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AnswerQuestion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10042855" y="4206240"/>
            <a:ext cx="1600200" cy="1051560"/>
          </a:xfrm>
          <a:prstGeom prst="roundRect">
            <a:avLst>
              <a:gd name="adj" fmla="val 5217"/>
            </a:avLst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116007" y="4206240"/>
            <a:ext cx="1453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서버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286000" y="4475988"/>
            <a:ext cx="7619695" cy="0"/>
          </a:xfrm>
          <a:prstGeom prst="line">
            <a:avLst/>
          </a:prstGeom>
          <a:noFill/>
          <a:ln w="25400">
            <a:solidFill>
              <a:srgbClr val="2A6FDB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377440" y="4242816"/>
            <a:ext cx="7436815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 같은 이미지·이력 + 질문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 flipH="1">
            <a:off x="2286000" y="4988052"/>
            <a:ext cx="7619695" cy="0"/>
          </a:xfrm>
          <a:prstGeom prst="line">
            <a:avLst/>
          </a:prstGeom>
          <a:noFill/>
          <a:ln w="25400">
            <a:solidFill>
              <a:srgbClr val="E0762B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2377440" y="5024628"/>
            <a:ext cx="7436815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 답 텍스트(정제·원문)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2377440" y="4530852"/>
            <a:ext cx="7436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 질문이 바뀔 때 1회 · 요청 5~8 MB / 응답 &lt; 4 KB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시: 타임아웃·연결 끊김은 오류 출력 후 1초 뒤 재시도. 궤적이 6초보다 오래되면 폐기하고 정지. 서버 재시작 시 클라이언트는 재접속(모델 재로드 없음)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비실시간 교환(SSH rsync/scp): A → B 녹화 데이터 carla_data/, B → A 서버 프로파일 CSV. CARLA 포트와 HF 토큰은 호스트 밖으로 나가지 않음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비교: 공식 open-loop · 업스트림 Carlamayo · 이번 데모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Alpamayo open-loop 테스트 → 업스트림 Carlamayo(한 호스트) → 이번 데모(두 호스트)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834640"/>
                <a:gridCol w="3291840"/>
                <a:gridCol w="36850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Alpamayo open-loop 테스트 (NVIDIA 노트북)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A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업스트림 Carlamayo (단일 호스트)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이번 데모: 두 인스턴스 closed-loop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6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PhysicalAI-AV 실차 데이터셋 클립 1개 (HF 스트리밍) 재생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 CARLA 카메라 4대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 CARLA 카메라 4대 (A)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운전 주체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없음. 예측 궤적을 그림·지표로만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(PID 경유)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(PID 경유), 궤적은 B에서 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/ 호스트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1대에서 노트북 실행 (bf16 약 24 GB)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1대에 CARLA 6 GB + 모델 24 GB → 양자화·OOM-free 대책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A: A10G에 CARLA만 / B: L40S 48 GB에 모델만 (CFG·샘플 여유)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Python 환경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환경 1개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venv 3개 (CARLA용, 모델용, 합집합)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A: torch 없는 sim 환경 / B: 모델 환경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 구성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추론 시간 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 + JPEG 인코딩 0.1~0.3 s + 디코딩 수십 ms + 왕복 &lt; 1 ms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로드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클라이언트 실행마다 수 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서버 시작 시 1회. 클라이언트는 수 초 내 시작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영향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해당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하나가 죽으면 전부 재시작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클라이언트·CARLA 재시작해도 서버 유지. 오래된 궤적은 폐기·정지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예측 vs 실제 궤적 minADE, CoC 문장, 궤적 그림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주행 관찰, 영상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주행 관찰 + navigation/VQA 반응 + A·B 자원 실측(신규)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진행 순서와 명령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B는 서버를 한 번만 켜 둔다. 모드 전환은 전부 A의 플래그로 한다 (DCV 세션 안의 터미널, venv-sim)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0" cy="3621024"/>
          </a:xfrm>
          <a:prstGeom prst="line">
            <a:avLst/>
          </a:prstGeom>
          <a:noFill/>
          <a:ln w="25400">
            <a:solidFill>
              <a:srgbClr val="D5DB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76072" y="1399032"/>
            <a:ext cx="310896" cy="310896"/>
          </a:xfrm>
          <a:prstGeom prst="ellipse">
            <a:avLst/>
          </a:prstGeom>
          <a:solidFill>
            <a:srgbClr val="E0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6072" y="1399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371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기동 (1회)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34640" y="1389888"/>
            <a:ext cx="5943600" cy="329184"/>
          </a:xfrm>
          <a:prstGeom prst="roundRect">
            <a:avLst>
              <a:gd name="adj" fmla="val 1388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26080" y="1389888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6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alpamayo_server.py --version 1.5 --host 172.31.20.213 --port 50051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8915400" y="1371600"/>
            <a:ext cx="2727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 마지막 줄 SERVING ... warmed_up=True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76072" y="2002536"/>
            <a:ext cx="310896" cy="310896"/>
          </a:xfrm>
          <a:prstGeom prst="ellipse">
            <a:avLst/>
          </a:prstGeom>
          <a:solidFill>
            <a:srgbClr val="2A6F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76072" y="20025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197510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기동 (1회)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34640" y="1993392"/>
            <a:ext cx="5943600" cy="329184"/>
          </a:xfrm>
          <a:prstGeom prst="roundRect">
            <a:avLst>
              <a:gd name="adj" fmla="val 1388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26080" y="1993392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6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./CarlaUE4.sh -RenderOffScreen -quality-level=Epic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915400" y="1975104"/>
            <a:ext cx="2727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nvidia-smi에서 약 6 GB 사용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76072" y="2606040"/>
            <a:ext cx="310896" cy="310896"/>
          </a:xfrm>
          <a:prstGeom prst="ellipse">
            <a:avLst/>
          </a:prstGeom>
          <a:solidFill>
            <a:srgbClr val="2A6F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76072" y="2606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25786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open-loop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834640" y="2596896"/>
            <a:ext cx="5943600" cy="329184"/>
          </a:xfrm>
          <a:prstGeom prst="roundRect">
            <a:avLst>
              <a:gd name="adj" fmla="val 1388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926080" y="2596896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6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carlamayo.py --loop open --version 1.5 --data-root carla_data --inference-server 172.31.20.213:50051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8915400" y="2578608"/>
            <a:ext cx="2727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녹화 영상 위 예측 궤적 mp4. B 로컬 결과와 parity 비교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76072" y="3209544"/>
            <a:ext cx="310896" cy="310896"/>
          </a:xfrm>
          <a:prstGeom prst="ellipse">
            <a:avLst/>
          </a:prstGeom>
          <a:solidFill>
            <a:srgbClr val="2A6F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76072" y="32095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1051560" y="318211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834640" y="3200400"/>
            <a:ext cx="5943600" cy="329184"/>
          </a:xfrm>
          <a:prstGeom prst="roundRect">
            <a:avLst>
              <a:gd name="adj" fmla="val 1388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26080" y="320040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6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carlamayo.py --loop closed --version 1.5 --async --inference-server 172.31.20.213:50051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8915400" y="3182112"/>
            <a:ext cx="2727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pygame 창: 모델이 운전, 빨간 궤적·CoT·상태 패널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76072" y="3813048"/>
            <a:ext cx="310896" cy="310896"/>
          </a:xfrm>
          <a:prstGeom prst="ellipse">
            <a:avLst/>
          </a:prstGeom>
          <a:solidFill>
            <a:srgbClr val="2A6F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76072" y="3813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051560" y="378561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+ CFG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834640" y="3803904"/>
            <a:ext cx="5943600" cy="329184"/>
          </a:xfrm>
          <a:prstGeom prst="roundRect">
            <a:avLst>
              <a:gd name="adj" fmla="val 1388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926080" y="3803904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6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위 + --mode navigation --navigation-text "Turn right in 30m" --navigation-weight 1.5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8915400" y="3785616"/>
            <a:ext cx="2727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 입력창에 텍스트 | 1.5 → Enter → 다음 추론부터 반영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76072" y="4416552"/>
            <a:ext cx="310896" cy="310896"/>
          </a:xfrm>
          <a:prstGeom prst="ellipse">
            <a:avLst/>
          </a:prstGeom>
          <a:solidFill>
            <a:srgbClr val="2A6F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76072" y="4416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1051560" y="43891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834640" y="4407408"/>
            <a:ext cx="5943600" cy="329184"/>
          </a:xfrm>
          <a:prstGeom prst="roundRect">
            <a:avLst>
              <a:gd name="adj" fmla="val 1388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926080" y="4407408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6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위 + --mode vqa --vqa-question "What is ahead?"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8915400" y="4389120"/>
            <a:ext cx="2727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차량 정지, 답은 패널·터미널에 표시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76072" y="5020056"/>
            <a:ext cx="310896" cy="310896"/>
          </a:xfrm>
          <a:prstGeom prst="ellipse">
            <a:avLst/>
          </a:prstGeom>
          <a:solidFill>
            <a:srgbClr val="2A6F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76072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1051560" y="499262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정리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834640" y="5010912"/>
            <a:ext cx="5943600" cy="329184"/>
          </a:xfrm>
          <a:prstGeom prst="roundRect">
            <a:avLst>
              <a:gd name="adj" fmla="val 1388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926080" y="5010912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6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tools/fetch_server_profile.sh &lt;run_id&gt;  →  python tools/analyze_run.py runs/&lt;run_id&gt;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8915400" y="4992624"/>
            <a:ext cx="2727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runs/&lt;run_id&gt;/summary.md, plots/*.png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548640" y="5715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조작: Enter 프롬프트 적용 · Ctrl+P 일시정지/재개(시뮬 세계 전체 정지) · Esc 종료.   모든 실행은 runs/&lt;run_id&gt;/ 폴더(영상 2개, args.json, log.txt, 프로파일 CSV)를 남기고 B도 같은 이름의 폴더에 서버 기록을 남긴다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보여줄 것 ①: 두 인스턴스에서 돌아가는 closed-loop 자율주행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A의 pygame 창에 보이는 것과, 그 뒤에서 A·B 사이에 일어나는 일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852160" cy="4114800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554480"/>
            <a:ext cx="3794760" cy="3840480"/>
          </a:xfrm>
          <a:prstGeom prst="rect">
            <a:avLst/>
          </a:prstGeom>
          <a:solidFill>
            <a:srgbClr val="556B7F"/>
          </a:solidFill>
          <a:ln w="12700">
            <a:solidFill>
              <a:srgbClr val="556B7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3566160"/>
            <a:ext cx="3794760" cy="1828800"/>
          </a:xfrm>
          <a:prstGeom prst="rect">
            <a:avLst/>
          </a:prstGeom>
          <a:solidFill>
            <a:srgbClr val="3C4650"/>
          </a:solidFill>
          <a:ln w="12700">
            <a:solidFill>
              <a:srgbClr val="3C46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54480" y="3657600"/>
            <a:ext cx="1005840" cy="164592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2560320" y="3657600"/>
            <a:ext cx="1005840" cy="164592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2560320" y="3657600"/>
            <a:ext cx="320040" cy="1645920"/>
          </a:xfrm>
          <a:prstGeom prst="line">
            <a:avLst/>
          </a:prstGeom>
          <a:noFill/>
          <a:ln w="38100">
            <a:solidFill>
              <a:srgbClr val="E5393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87168" y="5230368"/>
            <a:ext cx="146304" cy="146304"/>
          </a:xfrm>
          <a:prstGeom prst="ellipse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1645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선: 따라가는 궤적 (64점, 6.4 s)  ·  흰 선: 다른 샘플 (--num-traj-samples &gt; 1일 때)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17720" y="1554480"/>
            <a:ext cx="1645920" cy="384048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1645920"/>
            <a:ext cx="1463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Alpamayo 1.5 (remote)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 172.31.20.213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frame 1832  spd 27 km/h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traj age 0.8 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rtt 3.2 s  infer 2.9 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CoT: "Road is clear,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keep lane and slow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the intersection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ahead..."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Turn right in 30m | 1.5 ]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Enter apply  Ctrl+P pause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 quit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5778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pygame 창 (예시 구성)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1417320"/>
            <a:ext cx="48307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화면에서 확인할 것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801368"/>
            <a:ext cx="4830775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영상 위의 궤적이 약 1초마다 바뀌고 차가 그 궤적을 따라 조향·가감속한다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패널의 traj age(궤적 나이)가 0~1 s 대로 유지되고 rtt ≈ 서버 추론 시간이다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교차로에서 정지·회전하고, 앞차에 맞춰 감속한다 (CoT에 근거 문장)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12280" y="3703320"/>
            <a:ext cx="48307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뒤에서 일어나는 일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12280" y="4087368"/>
            <a:ext cx="4830775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 모드: A의 tick은 10 Hz로 계속, 워커 스레드가 JPEG로 압축해 B에 요청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B는 요청을 한 번에 하나씩 처리(모델 락). 응답 궤적은 다음 tick부터 사용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네트워크가 끊기면 궤적 나이가 6초를 넘는 순간 정지. 복구되면 재개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서버는 그대로. 클라이언트를 껐다 켜도 수 초 만에 재시작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보여줄 것 ②: navigation(CFG)·VQA의 실시간 반영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조작은 모두 A의 창에서 한다. B는 요청에 실려 온 텍스트·가중치·질문을 그대로 모델에 넣는다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531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+ CFG (주행 중)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801368"/>
            <a:ext cx="531860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 입력창에  텍스트 | 가중치  형식으로 입력 후 Enter (예: Turn right in 30m | 1.5)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prompt_revision이 1 올라가고, 다음 Predict 요청부터 navigation_text·weight가 실린다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CFG 가중치 = 지시를 얼마나 강하게 따를지. 1.0 기본, 1.5 권장. 클수록 지시 우선, VRAM 증가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시연: 같은 장면에서 가중치 1.0 vs 1.5의 궤적 차이. 샘플을 여러 개(--num-traj-samples 4) 뽑으면 후보가 흰 선으로 함께 그려진다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24448" y="1417320"/>
            <a:ext cx="531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 (정차 후)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324448" y="1801368"/>
            <a:ext cx="531860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--mode vqa 로 시작하거나 창에서 질문 입력. 차량은 정지(브레이크)한 채 질문한다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AnswerQuestion 요청 1회 → 답 텍스트가 패널과 터미널에 표시 (예: What is ahead?)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질문을 바꾸면 다시 1회 요청. 궤적은 생성하지 않는다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업스트림과 같은 동작. 주행 중 질문·답은 범위 밖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입력에서 반영까지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63440"/>
            <a:ext cx="2533574" cy="548640"/>
          </a:xfrm>
          <a:prstGeom prst="roundRect">
            <a:avLst>
              <a:gd name="adj" fmla="val 58333"/>
            </a:avLst>
          </a:prstGeom>
          <a:solidFill>
            <a:srgbClr val="FFFFFF"/>
          </a:solidFill>
          <a:ln w="15875">
            <a:solidFill>
              <a:srgbClr val="2A6FD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663440"/>
            <a:ext cx="2259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입력 (A)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285232"/>
            <a:ext cx="25335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| 가중치  또는  질문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27934" y="4937760"/>
            <a:ext cx="228600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402254" y="4663440"/>
            <a:ext cx="2533574" cy="548640"/>
          </a:xfrm>
          <a:prstGeom prst="roundRect">
            <a:avLst>
              <a:gd name="adj" fmla="val 58333"/>
            </a:avLst>
          </a:prstGeom>
          <a:solidFill>
            <a:srgbClr val="FFFFFF"/>
          </a:solidFill>
          <a:ln w="15875">
            <a:solidFill>
              <a:srgbClr val="2A6FD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39414" y="4663440"/>
            <a:ext cx="2259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요청에 탑재 (A)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402254" y="5285232"/>
            <a:ext cx="25335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gRPC 요청의 navigation_text / navigation_weight / question 필드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981548" y="4937760"/>
            <a:ext cx="228600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255868" y="4663440"/>
            <a:ext cx="2533574" cy="548640"/>
          </a:xfrm>
          <a:prstGeom prst="roundRect">
            <a:avLst>
              <a:gd name="adj" fmla="val 58333"/>
            </a:avLst>
          </a:prstGeom>
          <a:solidFill>
            <a:srgbClr val="FFFFFF"/>
          </a:solidFill>
          <a:ln w="15875">
            <a:solidFill>
              <a:srgbClr val="E076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93028" y="4663440"/>
            <a:ext cx="2259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모델 실행 (B)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255868" y="5285232"/>
            <a:ext cx="25335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CFG: 지시 있음·없음 두 예측을 가중 결합 / VQA: 텍스트 생성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835161" y="4937760"/>
            <a:ext cx="228600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109481" y="4663440"/>
            <a:ext cx="2533574" cy="548640"/>
          </a:xfrm>
          <a:prstGeom prst="roundRect">
            <a:avLst>
              <a:gd name="adj" fmla="val 58333"/>
            </a:avLst>
          </a:prstGeom>
          <a:solidFill>
            <a:srgbClr val="FFFFFF"/>
          </a:solidFill>
          <a:ln w="15875">
            <a:solidFill>
              <a:srgbClr val="E0762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46641" y="4663440"/>
            <a:ext cx="2259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 반영 (A)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9109481" y="5285232"/>
            <a:ext cx="25335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교체 → 차가 지시대로 주행 / 답을 패널에 표시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보여줄 것 ③: 실측 자원 데이터로 병목 분석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A·B 양쪽에서 자동 기록(--profile 기본 on) → B의 CSV를 A의 같은 run_id 폴더로 복사 → analyze_run.py로 요약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533574" cy="548640"/>
          </a:xfrm>
          <a:prstGeom prst="roundRect">
            <a:avLst>
              <a:gd name="adj" fmla="val 58333"/>
            </a:avLst>
          </a:prstGeom>
          <a:solidFill>
            <a:srgbClr val="FFFFFF"/>
          </a:solidFill>
          <a:ln w="15875">
            <a:solidFill>
              <a:srgbClr val="2A6FD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417320"/>
            <a:ext cx="2259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기록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39112"/>
            <a:ext cx="253357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tick별 / RPC별 / 1초마다 (3개 CSV): tick 시간, 궤적 나이, 왕복 시간, 인코딩 시간, 요청 크기, CPU·GPU·송신 bps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27934" y="1691640"/>
            <a:ext cx="228600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402254" y="1417320"/>
            <a:ext cx="2533574" cy="548640"/>
          </a:xfrm>
          <a:prstGeom prst="roundRect">
            <a:avLst>
              <a:gd name="adj" fmla="val 58333"/>
            </a:avLst>
          </a:prstGeom>
          <a:solidFill>
            <a:srgbClr val="FFFFFF"/>
          </a:solidFill>
          <a:ln w="15875">
            <a:solidFill>
              <a:srgbClr val="E076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39414" y="1417320"/>
            <a:ext cx="2259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기록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402254" y="2039112"/>
            <a:ext cx="253357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요청별 / 1초마다 (2개 CSV): 디코딩·전처리·추론 시간, VRAM 사용·피크, GPU 사용률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548" y="1691640"/>
            <a:ext cx="228600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255868" y="1417320"/>
            <a:ext cx="2533574" cy="548640"/>
          </a:xfrm>
          <a:prstGeom prst="roundRect">
            <a:avLst>
              <a:gd name="adj" fmla="val 58333"/>
            </a:avLst>
          </a:prstGeom>
          <a:solidFill>
            <a:srgbClr val="FFFFFF"/>
          </a:solidFill>
          <a:ln w="15875">
            <a:solidFill>
              <a:srgbClr val="1B2A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93028" y="1417320"/>
            <a:ext cx="2259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255868" y="2039112"/>
            <a:ext cx="253357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tools/fetch_server_profile.sh &lt;run_id&gt;: B의 CSV를 A의 같은 폴더로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835161" y="1691640"/>
            <a:ext cx="228600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109481" y="1417320"/>
            <a:ext cx="2533574" cy="548640"/>
          </a:xfrm>
          <a:prstGeom prst="roundRect">
            <a:avLst>
              <a:gd name="adj" fmla="val 58333"/>
            </a:avLst>
          </a:prstGeom>
          <a:solidFill>
            <a:srgbClr val="FFFFFF"/>
          </a:solidFill>
          <a:ln w="15875">
            <a:solidFill>
              <a:srgbClr val="1B2A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46641" y="1417320"/>
            <a:ext cx="2259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9109481" y="2039112"/>
            <a:ext cx="253357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tools/analyze_run.py: summary.md (count/mean/p50/p95/max) + plots (rtt, inference_time, gpu_mem, cpu, net, trajectory_age)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154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headline 지표: 예상값과 실측 칸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520440"/>
            <a:ext cx="2636444" cy="1234440"/>
          </a:xfrm>
          <a:prstGeom prst="roundRect">
            <a:avLst>
              <a:gd name="adj" fmla="val 592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611880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RPC 왕복 시간 (rtt)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3904488"/>
            <a:ext cx="2362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 + 0.2~0.4 s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4370832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실측: ______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367964" y="3520440"/>
            <a:ext cx="2636444" cy="1234440"/>
          </a:xfrm>
          <a:prstGeom prst="roundRect">
            <a:avLst>
              <a:gd name="adj" fmla="val 592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505124" y="3611880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추론 시간 T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3505124" y="3904488"/>
            <a:ext cx="2362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초 (bf16, 1샘플)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505124" y="4370832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실측: ______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87288" y="3520440"/>
            <a:ext cx="2636444" cy="1234440"/>
          </a:xfrm>
          <a:prstGeom prst="roundRect">
            <a:avLst>
              <a:gd name="adj" fmla="val 592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24448" y="3611880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 (rtt − server_total)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6324448" y="3904488"/>
            <a:ext cx="2362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0.1~0.4 s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324448" y="4370832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실측: ______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006611" y="3520440"/>
            <a:ext cx="2636444" cy="1234440"/>
          </a:xfrm>
          <a:prstGeom prst="roundRect">
            <a:avLst>
              <a:gd name="adj" fmla="val 592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143771" y="3611880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크기 / 업로드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9143771" y="3904488"/>
            <a:ext cx="2362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5~8 MB / 50~65 Mbps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9143771" y="4370832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실측: ______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48640" y="4937760"/>
            <a:ext cx="2636444" cy="1234440"/>
          </a:xfrm>
          <a:prstGeom prst="roundRect">
            <a:avLst>
              <a:gd name="adj" fmla="val 592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85800" y="5029200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나이 (async)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85800" y="5321808"/>
            <a:ext cx="2362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 + 0.2~0.4 s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5788152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실측: ______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367964" y="4937760"/>
            <a:ext cx="2636444" cy="1234440"/>
          </a:xfrm>
          <a:prstGeom prst="roundRect">
            <a:avLst>
              <a:gd name="adj" fmla="val 592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505124" y="5029200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VRAM / GPU 사용률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3505124" y="5321808"/>
            <a:ext cx="2362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24 GB / 추론 중 높음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3505124" y="5788152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실측: ______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187288" y="4937760"/>
            <a:ext cx="2636444" cy="1234440"/>
          </a:xfrm>
          <a:prstGeom prst="roundRect">
            <a:avLst>
              <a:gd name="adj" fmla="val 592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24448" y="5029200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CPU / GPU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6324448" y="5321808"/>
            <a:ext cx="2362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약 6 GB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324448" y="5788152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실측: ______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06611" y="4937760"/>
            <a:ext cx="2636444" cy="1234440"/>
          </a:xfrm>
          <a:prstGeom prst="roundRect">
            <a:avLst>
              <a:gd name="adj" fmla="val 592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143771" y="5029200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9143771" y="5321808"/>
            <a:ext cx="2362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rtt − server_total &lt; 0.5 s 이면 네트워크·인코딩은 병목 아님</a:t>
            </a:r>
            <a:endParaRPr lang="en-US" sz="1150" dirty="0"/>
          </a:p>
        </p:txBody>
      </p:sp>
      <p:sp>
        <p:nvSpPr>
          <p:cNvPr id="53" name="Text 51"/>
          <p:cNvSpPr txBox="1"/>
          <p:nvPr/>
        </p:nvSpPr>
        <p:spPr>
          <a:xfrm>
            <a:off x="9143771" y="5788152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실측: 분석 후 판정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병목과 판단 기준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가설: 분리 비용(인코딩·전송)은 모델 추론 시간에 비해 작다. 실측으로 확인할 지점을 미리 정해 둔다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요청 1회의 시간 구성 (개념도, 비율 아님)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1554480" cy="548640"/>
          </a:xfrm>
          <a:prstGeom prst="rect">
            <a:avLst/>
          </a:prstGeom>
          <a:solidFill>
            <a:srgbClr val="2A6F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373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JPEG 인코딩 (A)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03120" y="1737360"/>
            <a:ext cx="1371600" cy="548640"/>
          </a:xfrm>
          <a:prstGeom prst="rect">
            <a:avLst/>
          </a:prstGeom>
          <a:solidFill>
            <a:srgbClr val="6B7A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03120" y="17373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전송·디코딩 (B)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74720" y="1737360"/>
            <a:ext cx="6766560" cy="548640"/>
          </a:xfrm>
          <a:prstGeom prst="rect">
            <a:avLst/>
          </a:prstGeom>
          <a:solidFill>
            <a:srgbClr val="E07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74720" y="1737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추론 T (B)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241280" y="1737360"/>
            <a:ext cx="1399032" cy="548640"/>
          </a:xfrm>
          <a:prstGeom prst="rect">
            <a:avLst/>
          </a:prstGeom>
          <a:solidFill>
            <a:srgbClr val="2A6F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241280" y="1737360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응답·궤적 교체 (A)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331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0.1~0.3 s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2103120" y="2331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수십 ms + 왕복 &lt; 1 ms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474720" y="23317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초 (Alpamayo 1.5, bf16 · 샘플 수·CFG에 따라 증가)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0" y="233172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0.1 s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2834640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실측에서 확인할 판단 기준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218688"/>
            <a:ext cx="6035040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rtt − server_total 이 0.5 s 미만이면 네트워크·인코딩은 병목이 아니다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net_sent_bps 가 10 MB/s 미만이면 VPC 대역폭 여유 (raw 전송은 100 MB/요청으로 진단용)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gpu_util 이 추론 중에만 높고 유휴 시 0이면 서버는 요청 대기 상태. 클라이언트가 더 자주 요청해도 된다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cpu_percent 가 인코딩 시점에 튀면 JPEG 품질(--jpeg-quality)을 낮춰 비교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나이 p95가 6 s 근처면 안전장치가 개입 중. 타임아웃·주기 조정</a:t>
            </a:r>
            <a:endParaRPr lang="en-US" sz="115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6949440" y="2834640"/>
          <a:ext cx="4693615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6949440" y="5806440"/>
            <a:ext cx="4693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16샘플 + CFG는 B(48 GB)를 넘어 OOM. 데모는 1샘플 기본, 후보 궤적 시연은 4~8샘플. A10G 24 GB 한 대였다면 4-bit 양자화 또는 OOM-free가 필요했다.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시사점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CARLA의 x86 요구와 Alpamayo의 대용량 VRAM 요구를 서로 다른 인스턴스로 나눠도 closed-loop가 성립한다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463040"/>
            <a:ext cx="440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분리 입증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1901952"/>
            <a:ext cx="4404208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CARLA(UE4)는 x86 CPU가 필수이지만 GPU는 6 GB면 충분. Alpamayo는 VRAM 24 GB 이상이 필요하지만 CPU 아키텍처에는 무관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효과: 같은 머신에 두던 제약(4-bit 양자화, OOM-free 대책, venv 3개)이 사라진다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370168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7238848" y="1463040"/>
            <a:ext cx="440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선택 유연성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238848" y="1901952"/>
            <a:ext cx="4404208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추론 호스트는 x86/ARM과 무관하게 VRAM 기준으로만 고른다. 시뮬레이터 호스트는 그대로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효과: ARM Graviton GPU 인스턴스 검토 가능. Alpamayo 2(7카메라)나 샘플 수·CFG를 늘릴 때 B만 교체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749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E8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840480"/>
            <a:ext cx="440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최적화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4279392"/>
            <a:ext cx="4404208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CARLA와 모델을 함께 담을 단일 대형 GPU 인스턴스가 필요 없다. 필요 없는 쪽만 정지 가능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효과: open-loop·노트북 실험 때는 A 정지, 데이터 수집 때는 B 정지. 요금 비교: [요금표 확인 후 기입]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370168" y="3749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4400" dirty="0"/>
          </a:p>
        </p:txBody>
      </p:sp>
      <p:sp>
        <p:nvSpPr>
          <p:cNvPr id="16" name="Text 14"/>
          <p:cNvSpPr txBox="1"/>
          <p:nvPr/>
        </p:nvSpPr>
        <p:spPr>
          <a:xfrm>
            <a:off x="7238848" y="3840480"/>
            <a:ext cx="440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운영·확장·업스트림 추적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238848" y="4279392"/>
            <a:ext cx="4404208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모델을 한 번만 로드해 상주. 추론 인터페이스가 .proto 계약으로 고정. 루프·PID·UI 코드는 업스트림과 같고 --inference-server 플래그만 추가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효과: 클라이언트·CARLA 재시작 시 모델 재로드 없음. 다른 모델·시뮬레이터 연결과 업스트림 변경 반영이 쉽다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이후: 실측값 반영과 두 인스턴스 환경 상세 실험(별도 진행)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반영 (데모 전후)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801368"/>
            <a:ext cx="67665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보안그룹 허용(B 인바운드 50051, 22 ← A) 후 검증 체크리스트 8단계 실행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summary.md의 headline 값을 이 장표 ⑪·⑫와 설계 문서 '실측' 절에 기입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JPEG vs raw parity 차이(ATE)를 기록해 기본 인코딩 유지 여부 확정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566160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실험 후보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50208"/>
            <a:ext cx="676656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샘플 수 1 / 4 / 8: 추론 시간·VRAM·주행 안정성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CFG 가중치 1.0 / 1.5 / 2.0: 지시 반응 vs 시간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JPEG 품질 70 / 85 / 95 vs raw: 대역폭·오버헤드·궤적 차이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 vs 비동기 closed-loop: 궤적 나이와 주행 결과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2 (7카메라, 174 MB raw): 대역폭 한계 확인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인스턴스 교체(ARM GPU 등): 같은 클라이언트로 서버만 바꿔 측정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1417320"/>
            <a:ext cx="3687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인스턴스 검증 순서 (validation-checklist.md)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2148840"/>
            <a:ext cx="0" cy="2971800"/>
          </a:xfrm>
          <a:prstGeom prst="line">
            <a:avLst/>
          </a:prstGeom>
          <a:noFill/>
          <a:ln w="25400">
            <a:solidFill>
              <a:srgbClr val="D5DB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991856" y="2002536"/>
            <a:ext cx="292608" cy="292608"/>
          </a:xfrm>
          <a:prstGeom prst="ellipse">
            <a:avLst/>
          </a:prstGeom>
          <a:solidFill>
            <a:srgbClr val="1B2A4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99185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8458200" y="1984248"/>
            <a:ext cx="3139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 · fake 서버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8458200" y="2295144"/>
            <a:ext cx="3139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보안그룹 → nc/ssh → GPU 없는 fake 서버로 왕복 확인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991856" y="2962656"/>
            <a:ext cx="292608" cy="292608"/>
          </a:xfrm>
          <a:prstGeom prst="ellipse">
            <a:avLst/>
          </a:prstGeom>
          <a:solidFill>
            <a:srgbClr val="2A6F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91856" y="29626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2944368"/>
            <a:ext cx="3139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모델 + open-loop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255264"/>
            <a:ext cx="3139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로컬 vs A 원격(raw·JPEG) parity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991856" y="3922776"/>
            <a:ext cx="292608" cy="292608"/>
          </a:xfrm>
          <a:prstGeom prst="ellipse">
            <a:avLst/>
          </a:prstGeom>
          <a:solidFill>
            <a:srgbClr val="E0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91856" y="39227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8458200" y="3904488"/>
            <a:ext cx="3139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 · navigation · VQA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458200" y="4215384"/>
            <a:ext cx="3139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 → 비동기 → navigation/CFG → VQA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991856" y="4882896"/>
            <a:ext cx="292608" cy="292608"/>
          </a:xfrm>
          <a:prstGeom prst="ellipse">
            <a:avLst/>
          </a:prstGeom>
          <a:solidFill>
            <a:srgbClr val="1B2A4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991856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8458200" y="4864608"/>
            <a:ext cx="3139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 · 문서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8458200" y="5175504"/>
            <a:ext cx="3139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summary.md 확인, 설계 문서 '실측' 절과 이 장표에 기입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A: 용어집 (1/2) 실행 모드와 평가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5331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open-loop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135331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녹화된 주행 데이터를 재생하며 모델의 예측만 얻는다. 예측이 차량에 영향을 주지 않아 모델 단독 평가와 두 경로(로컬·원격)의 결과 비교에 쓴다.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13055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live-open-loop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213055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오토파일럿이 운전하고 모델은 예측 궤적을 화면에 겹쳐 보여주기만 한다. 실제 주행 정책과 모델 예측을 나란히 비교할 때 쓴다.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90779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200400" y="290779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낸 궤적을 PID 제어기가 실제 조향·가감속에 적용하고, 그 결과 장면이 다음 입력이 된다. 동기 모드는 추론 중 세계를 멈추고, 비동기(--async) 모드는 세계가 계속 진행된다.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61188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68503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ADE / FDE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368503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궤적과 실제 궤적의 평균 거리 오차(Average Displacement Error)와 마지막 점의 오차(Final Displacement Error), 단위 m. 여러 샘플 중 가장 좋은 값을 고르면 minADE.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38912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46227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trajectory age (궤적 나이)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446227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궤적이 만들어진 시점부터 사용하는 시점까지 흐른 시간. 네트워크나 서버 문제로 6초를 넘으면 궤적을 버리고 정지한다(안전장치).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516636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23951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run_id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3200400" y="523951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실행마다 고유한 결과 폴더 이름(runs/&lt;run_id&gt;/). A가 만들어 첫 요청에 실어 보내므로 B도 같은 이름의 폴더에 서버 기록을 남긴다.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94360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A: 용어집 (2/2) 모델과 통신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5331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CFG (Classifier-Free Guidance)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135331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 지시를 얼마나 강하게 따를지 정하는 가중치. 지시 있음/없음 두 예측을 섞어 계산하며 값이 클수록 지시를 우선한다. 1.0이 기본, 데모는 1.5. 커질수록 계산량과 VRAM이 늘어난다.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13055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 (Visual Question Answering)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213055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영상에 대해 자연어로 질문하면 모델이 텍스트로 답하는 모드. 궤적을 내지 않으므로 차량은 정지한 상태에서 질문하고 답을 확인한다.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90779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4-bit NF4 양자화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200400" y="290779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가중치를 4비트 NormalFloat 형식으로 저장해 VRAM을 약 1/4로 줄이는 방법(bitsandbytes). 정밀도가 조금 떨어질 수 있다. 24 GB GPU 한 대에서 모델과 CARLA를 함께 돌릴 때 필요했다.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61188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68503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OOM-free 모드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368503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레이어를 CPU 메모리에 두고 필요한 것만 GPU로 옮겨 가며 실행해 VRAM 부족(Out Of Memory)을 피하는 방식. 느리지만 작은 GPU에서도 돈다. Alpamayo 1.5 전용.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38912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46227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446227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HTTP/2와 Protocol Buffers 위에서 동작하는 원격 호출 프레임워크. 메시지 형식을 .proto 파일로 고정해 두 호스트가 같은 계약을 쓰고, 시작 시 버전·설정 불일치를 바로 잡아낸다.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516636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23951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1.5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3200400" y="523951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NVIDIA의 주행용 비전-언어-행동 모델. 카메라 4대의 최근 4프레임과 자차 이력을 받아 추론 근거(CoT)와 6.4초 궤적을 낸다. 이번 데모의 기본 모델이며 navigation·CFG·VQA를 모두 지원한다.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94360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B: 업스트림 대비 변경과 참고 문서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aveeslab/Carlamayo(e6372ea)를 히스토리째 가져와 분산 계층을 얹었다. 루프·PID·UI 동작은 업스트림과 같다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9903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원격 추론 계층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743200" y="1399032"/>
            <a:ext cx="8899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 계약(alpamayo_inference.proto), 서버(alpamayo_server.py), 원격 어댑터(RemoteAlpamayoAdapter). 기존 어댑터 인터페이스 그대로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837944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91109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torch 디커플링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1911096"/>
            <a:ext cx="8899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루프·시각화·추론 유틸에서 torch 직접 사용 제거 → A는 torch 없이 실행(requirements-sim.txt)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350008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23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 폴더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2423160"/>
            <a:ext cx="8899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runs/&lt;run_id&gt;/ 에 영상·인자·로그·프로파일. run_id를 요청에 실어 B도 같은 폴더명 사용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862072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93522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프로파일링·분석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743200" y="2935224"/>
            <a:ext cx="8899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3개, B 2개 CSV 자동 기록. tools/analyze_run.py → summary.md, plots. compare_predictions.py로 parity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374136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4472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안전장치·UI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743200" y="3447288"/>
            <a:ext cx="8899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최대 나이(6 s) 초과 시 정지. pygame UI 모든 closed-loop 모드 기본 on, live-open에도 표시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88620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9593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옵션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2743200" y="3959352"/>
            <a:ext cx="8899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--quantization / --oom-free / --num-traj-samples 는 서버 쪽으로 이동. 클라이언트는 --inference-server, --image-encoding, --jpeg-quality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398264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447141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743200" y="4471416"/>
            <a:ext cx="8899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GPU·CARLA 없이 도는 테스트 55 → 155개 (fake 어댑터·fake CARLA·UI 스모크 포함)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4910328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5138928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(docs/distributed/)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522976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architecture-analysis.md(현재 구조) · distributed-architecture.md(분리 설계·데이터 교환 명세·프로파일링) · adr/(설계 결정 7건) · cheatsheet.md(인스턴스별 명령)</a:t>
            </a:r>
            <a:endParaRPr lang="en-US" sz="1050" dirty="0"/>
          </a:p>
          <a:p>
            <a:pPr marL="177800" indent="-1778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validation-checklist.md(8단계 검증) · changes-from-upstream.md(변경 표) · alpamayo15-notebooks-guide.md(공식 노트북) · diagrams/(SVG)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Carlamayo 분산 데모 오버뷰</dc:title>
  <dc:subject>PptxGenJS Presentation</dc:subject>
  <dc:creator>Carlamayo distributed demo</dc:creator>
  <cp:lastModifiedBy>Carlamayo distributed demo</cp:lastModifiedBy>
  <cp:revision>1</cp:revision>
  <dcterms:created xsi:type="dcterms:W3CDTF">2026-10-01T03:44:51Z</dcterms:created>
  <dcterms:modified xsi:type="dcterms:W3CDTF">2026-10-01T03:44:51Z</dcterms:modified>
</cp:coreProperties>
</file>