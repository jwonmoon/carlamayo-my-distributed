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 ↔ Alpamayo 물리 분리 closed-loop 데모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 환경 Carlamayo: open-loop · closed-loop · navigation(CFG) · VQA  —  시스템 구성, 보여줄 것, 시사점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9319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 (x86)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4206240"/>
            <a:ext cx="1371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headEnd type="triangle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37744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 / gRPC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39319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0762B"/>
          </a:solidFill>
          <a:ln w="12700">
            <a:solidFill>
              <a:srgbClr val="E076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3192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Alpamayo 추론 (GPU)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2026-09-30   ·   발표자: 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물리적으로 떨어진 두 인스턴스에서 자율주행이 '되는지', 조작이 '실시간으로 먹는지', 어디가 '느린지'를 보인다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766560" cy="1325880"/>
          </a:xfrm>
          <a:prstGeom prst="roundRect">
            <a:avLst>
              <a:gd name="adj" fmla="val 551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27632"/>
            <a:ext cx="384048" cy="384048"/>
          </a:xfrm>
          <a:prstGeom prst="ellipse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627632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분리 환경에서 closed-loop 자율주행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848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CARLA는 A(x86, A10G), Alpamayo 1.5는 B(L40S 48 GB). 두 인스턴스가 gRPC로만 연결된 채 모델이 차를 운전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6766560" cy="1325880"/>
          </a:xfrm>
          <a:prstGeom prst="roundRect">
            <a:avLst>
              <a:gd name="adj" fmla="val 551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136392"/>
            <a:ext cx="384048" cy="384048"/>
          </a:xfrm>
          <a:prstGeom prst="ellipse">
            <a:avLst/>
          </a:prstGeom>
          <a:solidFill>
            <a:srgbClr val="E0762B"/>
          </a:solidFill>
          <a:ln w="12700">
            <a:solidFill>
              <a:srgbClr val="E076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36392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navigation(자연어 + CFG 가중치)·VQA 실시간 반영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59359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중 창에 지시를 입력하면 다음 추론부터 궤적이 바뀜. 정차 후 질문하면 모델이 답함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6766560" cy="1325880"/>
          </a:xfrm>
          <a:prstGeom prst="roundRect">
            <a:avLst>
              <a:gd name="adj" fmla="val 551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645152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645152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자원 데이터로 병목 분석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10235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A·B 양쪽에서 자동 기록한 왕복 시간·추론 시간·대역폭·GPU/CPU를 표와 그래프로. 분리 비용이 어디에 얼마나 붙는지 확인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1463040"/>
            <a:ext cx="4007815" cy="4343400"/>
          </a:xfrm>
          <a:prstGeom prst="roundRect">
            <a:avLst>
              <a:gd name="adj" fmla="val 1825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0" y="160020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진행 순서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09560" y="2103120"/>
            <a:ext cx="365760" cy="365760"/>
          </a:xfrm>
          <a:prstGeom prst="ellipse">
            <a:avLst/>
          </a:prstGeom>
          <a:solidFill>
            <a:srgbClr val="2A6F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095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2084832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open-loop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2340864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녹화 데이터 재생으로 원격 추론 경로 검증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2440" y="2487168"/>
            <a:ext cx="0" cy="283464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09560" y="2788920"/>
            <a:ext cx="365760" cy="365760"/>
          </a:xfrm>
          <a:prstGeom prst="ellipse">
            <a:avLst/>
          </a:prstGeom>
          <a:solidFill>
            <a:srgbClr val="2A6F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095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2770632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closed-loop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3026664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운전 (비동기 모드, pygame 화면)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92440" y="3172968"/>
            <a:ext cx="0" cy="283464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09560" y="3474720"/>
            <a:ext cx="365760" cy="365760"/>
          </a:xfrm>
          <a:prstGeom prst="ellipse">
            <a:avLst/>
          </a:prstGeom>
          <a:solidFill>
            <a:srgbClr val="E07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0956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3456432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navigation + CFG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412480" y="3712464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중 지시·가중치 입력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92440" y="3858768"/>
            <a:ext cx="0" cy="283464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09560" y="4160520"/>
            <a:ext cx="365760" cy="365760"/>
          </a:xfrm>
          <a:prstGeom prst="ellipse">
            <a:avLst/>
          </a:prstGeom>
          <a:solidFill>
            <a:srgbClr val="E07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0956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4142232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VQA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412480" y="4398264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정차 후 질문·답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92440" y="4544568"/>
            <a:ext cx="0" cy="283464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09560" y="4846320"/>
            <a:ext cx="365760" cy="36576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90956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412480" y="4828032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결과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8412480" y="5084064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표·그래프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시스템 구성: 두 인스턴스로 나눈 closed-loop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CARLA(x86 전용)와 Alpamayo 추론(대용량 VRAM GPU)을 서로 다른 AWS 인스턴스에 두고 TCP(gRPC)로 연결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069080" cy="3246120"/>
          </a:xfrm>
          <a:prstGeom prst="roundRect">
            <a:avLst>
              <a:gd name="adj" fmla="val 2817"/>
            </a:avLst>
          </a:prstGeom>
          <a:solidFill>
            <a:srgbClr val="E8F0FC"/>
          </a:solidFill>
          <a:ln w="19050">
            <a:solidFill>
              <a:srgbClr val="2A6F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270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시뮬레이터 호스트 (x86 필수)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470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g5.2xlarge · NVIDIA A10G 24 GB · 172.31.38.219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3703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2A6F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19456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 0.9.16 서버 (UE4)  ·  Town03, NPC 100대, 카메라 4대 1080p, 10 Hz tick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157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loopback 300~600 MB/s (센서 영상)  ⇅  제어 명령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3008376"/>
            <a:ext cx="3703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2A6F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008376"/>
            <a:ext cx="3483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carlamayo.py 루프 클라이언트  ·  카메라 수집 → 추론 요청 → 궤적 수신 → PID 제어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리스폰, 영상 기록, 프로파일링  (torch 없음)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78561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A6F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3785616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pygame UI (NICE DCV 세션으로 표시)  ·  카메라·궤적·CoT·프롬프트 입력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73975" y="1417320"/>
            <a:ext cx="4069080" cy="3246120"/>
          </a:xfrm>
          <a:prstGeom prst="roundRect">
            <a:avLst>
              <a:gd name="adj" fmla="val 2817"/>
            </a:avLst>
          </a:prstGeom>
          <a:solidFill>
            <a:srgbClr val="FCEFE4"/>
          </a:solidFill>
          <a:ln w="19050">
            <a:solidFill>
              <a:srgbClr val="E076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56855" y="15270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추론 호스트 (GPU: x86 또는 ARM)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56855" y="18470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실물: g6e.xlarge(x86) · L40S 48 GB · 172.31.20.213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56855" y="2194560"/>
            <a:ext cx="3703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076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6583" y="219456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alpamayo_server.py  ·  gRPC :50051, health check, 요청 직렬화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56855" y="3008376"/>
            <a:ext cx="3703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76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6583" y="3008376"/>
            <a:ext cx="3483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Alpamayo 1.5 상주 (bf16, 약 24 GB VRAM)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로드 후 유지, 워밍업 완료 후 서비스 시작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56855" y="378561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76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6583" y="3785616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Hugging Face 캐시 · 토큰 (B에만 존재)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208026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 / gRPC  (VPC 내부, 보안그룹으로 제한)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628900"/>
            <a:ext cx="2773375" cy="0"/>
          </a:xfrm>
          <a:prstGeom prst="line">
            <a:avLst/>
          </a:prstGeom>
          <a:noFill/>
          <a:ln w="25400">
            <a:solidFill>
              <a:srgbClr val="2A6FDB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709160" y="2656332"/>
            <a:ext cx="2773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요청: 카메라 4대×4프레임(JPEG) + 자차 이력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navigation 텍스트·CFG 가중치 / 질문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5~8 MB, 약 1 Hz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H="1">
            <a:off x="4709160" y="3680460"/>
            <a:ext cx="2773375" cy="0"/>
          </a:xfrm>
          <a:prstGeom prst="line">
            <a:avLst/>
          </a:prstGeom>
          <a:noFill/>
          <a:ln w="25400">
            <a:solidFill>
              <a:srgbClr val="E0762B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709160" y="37261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응답: 궤적(64점×3D) + CoT / 답변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 10 KB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864608"/>
            <a:ext cx="40690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6B7A8C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85800" y="48646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PC  →  SSH 터미널, NICE DCV 클라이언트(pygame 창), 결과 영상 scp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573975" y="4864608"/>
            <a:ext cx="40690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6B7A8C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7711135" y="48646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→ B  rsync/scp (SSH)  ·  녹화 데이터 carla_data/, 프로파일 CSV 회수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원칙: ① 시뮬레이션 제어 루프는 CARLA 옆에 두어 300~600 MB/s의 센서 트래픽을 loopback에 가둔다  ② 모델은 한 번만 로드해 서버로 상주시킨다  ③ 기존 어댑터 인터페이스를 그대로 원격화해 루프 코드는 로컬 모델인지 gRPC인지 모른다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사이에 무엇이 오가는가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gRPC 호출 3종. 프롬프트·가중치·질문은 모두 A의 요청에 실려 가므로 B는 서버만 켜 두면 된다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3291840"/>
                <a:gridCol w="3017520"/>
                <a:gridCol w="13990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→ B (요청)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→ A (응답)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 · 제한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GetModelInfo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클라이언트 시작 시 1회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프로토콜 버전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버전, 카메라 배치, 지원 기능(navigation/VQA), 설정값(프레임 수·이미지 크기·궤적 샘플 수), 워밍업 여부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 1 KB. 설정이 다르면 시작 거부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Predict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closed / live-open: 약 1 Hz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open-loop: 프레임마다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 4대 × 4프레임(JPEG q95), 자차 이력 16개(위치·회전), 시각 t0, navigation 텍스트 + CFG 가중치, 메타(frame, 프롬프트/리스폰 revision, run_id), 시드(선택)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궤적 (샘플 S × 64점 × 3D), CoT 텍스트, 서버 타이밍(디코딩·전처리·추론 초), VRAM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5~8 MB / 응답 &lt; 10 KB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타임아웃 120 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AnswerQuestion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VQA 질문이 바뀔 때 1회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이미지·이력 +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 텍스트(정제·원문)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5~8 MB / 응답 &lt; 4 KB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434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5079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동작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965192"/>
            <a:ext cx="5029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타임아웃·연결 끊김: 오류 출력 후 1초 뒤 재시도 (기존 'Inference error' 경로)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궤적이 6초보다 오래되면 폐기하고 정지 (--trajectory-max-age-sec, 신규 안전장치)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재시작: 클라이언트는 오류를 찍고 재접속. 모델 재로드 없음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4343400"/>
            <a:ext cx="5470855" cy="1737360"/>
          </a:xfrm>
          <a:prstGeom prst="roundRect">
            <a:avLst>
              <a:gd name="adj" fmla="val 4211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4507992"/>
            <a:ext cx="5105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비실시간 교환 (SSH rsync/scp)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4965192"/>
            <a:ext cx="5105095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→ B: 녹화 데이터 carla_data/ (open-loop를 B에서 로컬로 돌릴 때)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→ A: 서버 프로파일 CSV (runs/&lt;run_id&gt;/ 같은 이름으로 병합)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 포트(2000~2002, 8000)와 HF 토큰은 절대 A 밖으로 나가지 않음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환경과의 비교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Alpamayo open-loop 테스트 → 업스트림 Carlamayo(한 호스트) → 이번 데모(두 호스트)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34640"/>
                <a:gridCol w="3291840"/>
                <a:gridCol w="36850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Alpamayo open-loop 테스트 (NVIDIA 노트북)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업스트림 Carlamayo (단일 호스트)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데모: 분산 closed-loop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PhysicalAI-AV 실차 데이터셋 클립 1개 (HF 스트리밍) 재생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CARLA 카메라 4대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CARLA 카메라 4대 (A)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 주체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없음. 예측 궤적을 그림·지표로만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(PID 경유)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(PID 경유), 궤적은 B에서 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/ 호스트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1대에서 노트북 실행 (bf16 약 24 GB)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1대에 CARLA 6 GB + 모델 24 GB → 양자화·OOM-free 대책 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A: A10G에 CARLA만 / B: L40S 48 GB에 모델만 (CFG·샘플 여유)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 환경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환경 1개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venv 3개 (CARLA용, 모델용, 합집합)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A: torch 없는 sim 환경 / B: 모델 환경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구성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 시간 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 + JPEG 인코딩 0.1~0.3 s + 디코딩 수십 ms + 왕복 &lt; 1 ms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로드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클라이언트 실행마다 수 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서버 시작 시 1회. 클라이언트는 수 초 내 시작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하나가 죽으면 전부 재시작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클라이언트·CARLA 재시작해도 서버 유지. 오래된 궤적은 폐기·정지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vs 실제 궤적 minADE, CoC 문장, 궤적 그림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주행 관찰, 영상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주행 관찰 + navigation/VQA 반응 + A·B 자원 실측(신규)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진행 순서와 명령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B는 서버를 한 번만 켜 둔다. 모드 전환은 전부 A의 플래그로 한다 (DCV 세션 안의 터미널, venv-sim)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48640"/>
                <a:gridCol w="1371600"/>
                <a:gridCol w="5669280"/>
                <a:gridCol w="313639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화면에서 볼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076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기동 (1회)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 alpamayo_server.py --version 1.5 --host 172.31.20.213 --port 50051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 마지막 줄 SERVING ... warmed_up=True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6FD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CARLA 기동 (1회)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./CarlaUE4.sh -RenderOffScreen -quality-level=Epic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nvidia-smi에서 약 6 GB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6FD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open-loop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 carlamayo.py --loop open --version 1.5 --data-root carla_data --inference-server 172.31.20.213:50051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녹화 영상 위 예측 궤적 mp4. B 로컬 결과와 parity 비교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6FD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closed-loop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 carlamayo.py --loop closed --version 1.5 --async --inference-server 172.31.20.213:50051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pygame 창: 모델이 운전, 빨간 궤적·CoT·상태 패널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6FD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navigation + CFG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위 + --mode navigation --navigation-text "Turn right in 30m" --navigation-weight 1.5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 입력창에 텍스트 | 1.5 → Enter → 다음 추론부터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6FD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VQA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위 + --mode vqa --vqa-question "What is ahead?"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정지, 답은 패널·터미널에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6FD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tools/fetch_server_profile.sh &lt;run_id&gt;  →  python tools/analyze_run.py runs/&lt;run_id&gt;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runs/&lt;run_id&gt;/summary.md, plots/*.png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조작: Enter 프롬프트 적용 · Ctrl+P 일시정지/재개(시뮬 세계 전체 정지) · Esc 종료.   모든 실행은 runs/&lt;run_id&gt;/ 폴더(영상 2개, args.json, log.txt, 프로파일 CSV)를 남기고 B도 같은 이름의 폴더에 서버 기록을 남긴다.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보여줄 것 ①  물리 분리 환경에서 closed-loop 자율주행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A의 pygame 창에 보이는 것과, 그 뒤에서 A·B 사이에 일어나는 일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035040" cy="42062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3931920" cy="3931920"/>
          </a:xfrm>
          <a:prstGeom prst="rect">
            <a:avLst/>
          </a:prstGeom>
          <a:solidFill>
            <a:srgbClr val="556B7F"/>
          </a:solidFill>
          <a:ln w="12700">
            <a:solidFill>
              <a:srgbClr val="556B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657600"/>
            <a:ext cx="3931920" cy="1874520"/>
          </a:xfrm>
          <a:prstGeom prst="rect">
            <a:avLst/>
          </a:prstGeom>
          <a:solidFill>
            <a:srgbClr val="3C4650"/>
          </a:solidFill>
          <a:ln w="12700">
            <a:solidFill>
              <a:srgbClr val="3C46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3749040"/>
            <a:ext cx="1005840" cy="169164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2651760" y="3749040"/>
            <a:ext cx="1005840" cy="169164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2651760" y="3749040"/>
            <a:ext cx="320040" cy="169164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78608" y="5367528"/>
            <a:ext cx="146304" cy="14630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선: 따라가는 궤적 (64점, 6.4 s)  ·  흰 선: 다른 샘플(--num-traj-samples &gt; 1일 때)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600200"/>
            <a:ext cx="1691640" cy="39319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691640"/>
            <a:ext cx="1508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Alpamayo 1.5 (remote)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172.31.20.213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 1832  spd 27 km/h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traj age 0.8 s  pending 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rtt 3.2 s  infer 2.9 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CoT: "Road is clear, keep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and slow before the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intersection ahead..."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[ Turn right in 30m | 1.5 ]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apply  Ctrl+P pause  Esc quit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15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pygame 창 (예시 구성)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03720" y="1463040"/>
            <a:ext cx="4739335" cy="1965960"/>
          </a:xfrm>
          <a:prstGeom prst="roundRect">
            <a:avLst>
              <a:gd name="adj" fmla="val 3721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1627632"/>
            <a:ext cx="4373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확인할 것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084832"/>
            <a:ext cx="43735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영상 위의 궤적이 약 1초마다 바뀌고 차가 그 궤적을 따라 조향·가감속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패널의 traj age(궤적 나이)가 0~1 s 대로 유지되고 rtt ≈ 서버 추론 시간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교차로에서 정지·회전, 앞차에 맞춰 감속 (CoT에 근거 문장)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3611880"/>
            <a:ext cx="4739335" cy="2057400"/>
          </a:xfrm>
          <a:prstGeom prst="roundRect">
            <a:avLst>
              <a:gd name="adj" fmla="val 3556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86600" y="3776472"/>
            <a:ext cx="4373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뒤에서 일어나는 일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33672"/>
            <a:ext cx="43735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모드: A의 tick은 10 Hz로 계속, 워커 스레드가 JPEG로 압축해 B에 요청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B는 요청을 한 번에 하나씩 처리(모델 락). 응답 궤적은 다음 tick부터 사용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네트워크가 끊기면 궤적 나이가 6초를 넘는 순간 정지. 복구되면 재개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서버는 그대로. 클라이언트를 껐다 켜도 수 초 만에 재시작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보여줄 것 ②  navigation(CFG)·VQA가 실시간으로 반영되는 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조작은 모두 A의 창에서. B는 요청에 실려 온 텍스트·가중치·질문을 그대로 모델에 넣는다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10048" cy="3017520"/>
          </a:xfrm>
          <a:prstGeom prst="roundRect">
            <a:avLst>
              <a:gd name="adj" fmla="val 2424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81912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navigation + CFG (주행 중)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39112"/>
            <a:ext cx="504428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입력창에  텍스트 | 가중치  형식으로 입력 후 Enter (예: Turn right in 30m | 1.5)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prompt_revision이 1 올라가고, 다음 Predict 요청부터 navigation_text·weight가 실린다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 가중치 = 지시를 얼마나 강하게 따를지. 1.0 기본, 1.5 권장, 클수록 지시 우선·VRAM 증가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시연: 같은 장면에서 가중치 1.0 vs 1.5의 궤적 차이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궤적 샘플을 여러 개(--num-traj-samples 4) 뽑으면 후보가 흰 선으로 함께 그려짐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1417320"/>
            <a:ext cx="5410048" cy="3017520"/>
          </a:xfrm>
          <a:prstGeom prst="roundRect">
            <a:avLst>
              <a:gd name="adj" fmla="val 2424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5888" y="1581912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VQA (정차 후)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15888" y="2039112"/>
            <a:ext cx="504428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--mode vqa 로 시작하거나 창에서 질문 입력. 차량은 정지(브레이크)한 채 질문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AnswerQuestion 요청 1회 → 답 텍스트가 패널과 터미널에 표시 (예: What is ahead?)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바꾸면 다시 1회 요청. 궤적은 생성하지 않음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업스트림과 같은 동작. 주행 중 질문·답은 지원하지 않음(범위 밖)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2602154" cy="1051560"/>
          </a:xfrm>
          <a:prstGeom prst="roundRect">
            <a:avLst>
              <a:gd name="adj" fmla="val 6957"/>
            </a:avLst>
          </a:prstGeom>
          <a:solidFill>
            <a:srgbClr val="F3F5F8"/>
          </a:solidFill>
          <a:ln w="9525">
            <a:solidFill>
              <a:srgbClr val="2A6F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4773168"/>
            <a:ext cx="310896" cy="310896"/>
          </a:xfrm>
          <a:prstGeom prst="ellipse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4754880"/>
            <a:ext cx="2035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(A)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5120640"/>
            <a:ext cx="238269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| 가중치  또는  질문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78226" y="5189220"/>
            <a:ext cx="173736" cy="0"/>
          </a:xfrm>
          <a:prstGeom prst="line">
            <a:avLst/>
          </a:prstGeom>
          <a:noFill/>
          <a:ln w="15875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79394" y="4663440"/>
            <a:ext cx="2602154" cy="1051560"/>
          </a:xfrm>
          <a:prstGeom prst="roundRect">
            <a:avLst>
              <a:gd name="adj" fmla="val 6957"/>
            </a:avLst>
          </a:prstGeom>
          <a:solidFill>
            <a:srgbClr val="F3F5F8"/>
          </a:solidFill>
          <a:ln w="9525">
            <a:solidFill>
              <a:srgbClr val="2A6F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9122" y="4773168"/>
            <a:ext cx="310896" cy="310896"/>
          </a:xfrm>
          <a:prstGeom prst="ellipse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89122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854882" y="4754880"/>
            <a:ext cx="2035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요청에 탑재 (A)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489122" y="5120640"/>
            <a:ext cx="238269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gRPC 요청의 navigation_text / weight / question 필드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08980" y="5189220"/>
            <a:ext cx="173736" cy="0"/>
          </a:xfrm>
          <a:prstGeom prst="line">
            <a:avLst/>
          </a:prstGeom>
          <a:noFill/>
          <a:ln w="15875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10148" y="4663440"/>
            <a:ext cx="2602154" cy="1051560"/>
          </a:xfrm>
          <a:prstGeom prst="roundRect">
            <a:avLst>
              <a:gd name="adj" fmla="val 6957"/>
            </a:avLst>
          </a:prstGeom>
          <a:solidFill>
            <a:srgbClr val="F3F5F8"/>
          </a:solidFill>
          <a:ln w="9525">
            <a:solidFill>
              <a:srgbClr val="E076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19876" y="4773168"/>
            <a:ext cx="310896" cy="310896"/>
          </a:xfrm>
          <a:prstGeom prst="ellipse">
            <a:avLst/>
          </a:prstGeom>
          <a:solidFill>
            <a:srgbClr val="E0762B"/>
          </a:solidFill>
          <a:ln w="12700">
            <a:solidFill>
              <a:srgbClr val="E076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19876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685636" y="4754880"/>
            <a:ext cx="2035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실행 (B)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319876" y="5120640"/>
            <a:ext cx="238269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CFG: 지시 있음·없음 두 예측을 가중 결합 / VQA: 텍스트 생성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839733" y="5189220"/>
            <a:ext cx="173736" cy="0"/>
          </a:xfrm>
          <a:prstGeom prst="line">
            <a:avLst/>
          </a:prstGeom>
          <a:noFill/>
          <a:ln w="15875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40901" y="4663440"/>
            <a:ext cx="2602154" cy="1051560"/>
          </a:xfrm>
          <a:prstGeom prst="roundRect">
            <a:avLst>
              <a:gd name="adj" fmla="val 6957"/>
            </a:avLst>
          </a:prstGeom>
          <a:solidFill>
            <a:srgbClr val="F3F5F8"/>
          </a:solidFill>
          <a:ln w="9525">
            <a:solidFill>
              <a:srgbClr val="E076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50629" y="4773168"/>
            <a:ext cx="310896" cy="310896"/>
          </a:xfrm>
          <a:prstGeom prst="ellipse">
            <a:avLst/>
          </a:prstGeom>
          <a:solidFill>
            <a:srgbClr val="E0762B"/>
          </a:solidFill>
          <a:ln w="12700">
            <a:solidFill>
              <a:srgbClr val="E076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50629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516389" y="4754880"/>
            <a:ext cx="2035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 (A)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150629" y="5120640"/>
            <a:ext cx="238269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궤적 교체 → 차가 지시대로 / 답을 패널에 표시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보여줄 것 ③  실측 자원 데이터로 병목 분석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실행마다 A·B 양쪽에서 자동 기록(--profile 기본 on) → 한 폴더로 모아 표·그래프로 요약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02154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9525">
            <a:solidFill>
              <a:srgbClr val="2A6F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81328"/>
            <a:ext cx="310896" cy="310896"/>
          </a:xfrm>
          <a:prstGeom prst="ellipse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463040"/>
            <a:ext cx="2035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기록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828800"/>
            <a:ext cx="23826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tick별(tick 시간, 속도, 궤적 나이), RPC별(왕복 시간, 인코딩 시간, 요청 크기), 1초마다(CPU, GPU, 송신 bps)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8226" y="1965960"/>
            <a:ext cx="173736" cy="0"/>
          </a:xfrm>
          <a:prstGeom prst="line">
            <a:avLst/>
          </a:prstGeom>
          <a:noFill/>
          <a:ln w="15875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79394" y="1371600"/>
            <a:ext cx="2602154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9525">
            <a:solidFill>
              <a:srgbClr val="E076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9122" y="1481328"/>
            <a:ext cx="310896" cy="310896"/>
          </a:xfrm>
          <a:prstGeom prst="ellipse">
            <a:avLst/>
          </a:prstGeom>
          <a:solidFill>
            <a:srgbClr val="E0762B"/>
          </a:solidFill>
          <a:ln w="12700">
            <a:solidFill>
              <a:srgbClr val="E076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89122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854882" y="1463040"/>
            <a:ext cx="2035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기록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489122" y="1828800"/>
            <a:ext cx="23826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요청별(디코딩·전처리·추론 시간, VRAM 사용·피크, GPU 사용률), 1초마다 시스템 자원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08980" y="1965960"/>
            <a:ext cx="173736" cy="0"/>
          </a:xfrm>
          <a:prstGeom prst="line">
            <a:avLst/>
          </a:prstGeom>
          <a:noFill/>
          <a:ln w="15875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0148" y="1371600"/>
            <a:ext cx="2602154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19876" y="1481328"/>
            <a:ext cx="310896" cy="31089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19876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85636" y="1463040"/>
            <a:ext cx="2035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319876" y="1828800"/>
            <a:ext cx="23826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B의 CSV를 A의 같은 run_id 폴더로 rsync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839733" y="1965960"/>
            <a:ext cx="173736" cy="0"/>
          </a:xfrm>
          <a:prstGeom prst="line">
            <a:avLst/>
          </a:prstGeom>
          <a:noFill/>
          <a:ln w="15875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40901" y="1371600"/>
            <a:ext cx="2602154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50629" y="1481328"/>
            <a:ext cx="310896" cy="31089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50629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516389" y="1463040"/>
            <a:ext cx="2035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150629" y="1828800"/>
            <a:ext cx="23826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summary.md (count/mean/p50/p95/max) + plots (rtt, inference_time, gpu_mem, cpu, net, trajectory_age)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  <a:gridCol w="2926080"/>
                <a:gridCol w="22219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(설계값)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RPC 왕복 시간 (rtt)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A가 요청을 보내고 궤적을 받기까지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 + 0.2~0.4 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[실측 후 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추론 시간 (inference_sec)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B에서 모델이 도는 시간 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 초 (1.5, bf16, 1샘플)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[실측 후 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오버헤드 (rtt − server_total)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 + 인코딩 + 직렬화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0.1~0.4 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[실측 후 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크기 / 업로드 대역폭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JPEG 16장 + 이력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5~8 MB / 약 50~65 Mbps (1 Hz)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[실측 후 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궤적 나이 (async)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궤적 생성 → 사용까지 지연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 + 0.2~0.4 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[실측 후 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VRAM / GPU 사용률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상주 + 추론 피크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24 GB / 추론 중 높음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[실측 후 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CPU / GPU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CARLA 렌더링 + JPEG 인코딩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약 6 GB, CPU 4~8 vCPU 중 일부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[실측 후 기입]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병목과 판단 기준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가설: 분리 비용(인코딩·전송)은 모델 추론 시간에 비해 작다. 실측으로 확인할 지점을 미리 정해 둔다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요청 1회의 시간 구성 (개념도, 비율 아님)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554480" cy="548640"/>
          </a:xfrm>
          <a:prstGeom prst="rect">
            <a:avLst/>
          </a:prstGeom>
          <a:solidFill>
            <a:srgbClr val="2A6F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JPEG 인코딩 (A)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737360"/>
            <a:ext cx="1371600" cy="548640"/>
          </a:xfrm>
          <a:prstGeom prst="rect">
            <a:avLst/>
          </a:prstGeom>
          <a:solidFill>
            <a:srgbClr val="6B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1737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전송·디코딩 (B)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737360"/>
            <a:ext cx="6766560" cy="548640"/>
          </a:xfrm>
          <a:prstGeom prst="rect">
            <a:avLst/>
          </a:prstGeom>
          <a:solidFill>
            <a:srgbClr val="E07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7373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추론 T (B)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241280" y="1737360"/>
            <a:ext cx="1399032" cy="548640"/>
          </a:xfrm>
          <a:prstGeom prst="rect">
            <a:avLst/>
          </a:prstGeom>
          <a:solidFill>
            <a:srgbClr val="2A6F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241280" y="1737360"/>
            <a:ext cx="139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응답·궤적 교체 (A)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0.1~0.3 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 ms + 왕복 &lt; 1 ms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331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초 (Alpamayo 1.5, bf16 · 샘플 수·CFG에 따라 증가)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0" y="233172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 0.1 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5410048" cy="2743200"/>
          </a:xfrm>
          <a:prstGeom prst="roundRect">
            <a:avLst>
              <a:gd name="adj" fmla="val 266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044952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실측에서 확인할 판단 기준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502152"/>
            <a:ext cx="504428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rtt − server_total 이 0.5 s 미만이면 네트워크·인코딩은 병목이 아님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net_sent_bps 가 10 MB/s 미만이면 VPC 대역폭 여유 (raw 전송은 100 MB/요청으로 진단용)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gpu_util 이 추론 중에만 높고 유휴 시 0이면 서버는 요청 대기 상태 → 클라이언트가 더 자주 요청해도 됨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cpu_percent 가 인코딩 시점에 튀면 JPEG 품질(--jpeg-quality)을 낮춰 비교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궤적 나이 p95가 6 s 근처면 안전장치가 개입 중 → 타임아웃·주기 조정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3008" y="2880360"/>
            <a:ext cx="5410048" cy="2743200"/>
          </a:xfrm>
          <a:prstGeom prst="roundRect">
            <a:avLst>
              <a:gd name="adj" fmla="val 266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15888" y="3044952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VRAM 기준 (공식 값, B = 48 GB)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15888" y="3502152"/>
            <a:ext cx="504428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궤적 1샘플: 약 24 GB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16샘플: 약 40 GB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16샘플 + CFG: 60 GB 이상 → B에서는 OOM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데모는 1샘플 기본, 후보 궤적 시연은 4~8샘플까지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A10G 24 GB 한 대였다면 모델과 CARLA를 함께 넣기 위해 4-bit 양자화·OOM-free가 필요했음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CARLA의 'x86' 요구와 Alpamayo의 '대용량 VRAM' 요구를 서로 다른 인스턴스로 분리해도 closed-loop가 성립함을 입증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32908" cy="201168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27632"/>
            <a:ext cx="384048" cy="384048"/>
          </a:xfrm>
          <a:prstGeom prst="ellipse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627632"/>
            <a:ext cx="45642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분리 입증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84832"/>
            <a:ext cx="50671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CARLA(UE4)는 x86 CPU가 필수이지만 GPU는 6 GB면 충분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Alpamayo는 VRAM 24 GB 이상이 필요하지만 CPU 아키텍처에는 무관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둘을 같은 머신에 두던 제약(양자화·OOM-free 대책, venv 3개)이 사라짐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0148" y="1463040"/>
            <a:ext cx="5432908" cy="201168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93028" y="1627632"/>
            <a:ext cx="384048" cy="384048"/>
          </a:xfrm>
          <a:prstGeom prst="ellipse">
            <a:avLst/>
          </a:prstGeom>
          <a:solidFill>
            <a:srgbClr val="E0762B"/>
          </a:solidFill>
          <a:ln w="12700">
            <a:solidFill>
              <a:srgbClr val="E076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302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95948" y="1627632"/>
            <a:ext cx="45642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선택 유연성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93028" y="2084832"/>
            <a:ext cx="50671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호스트는 x86/ARM 가리지 않고 VRAM 기준으로만 선택 (ARM Graviton GPU 인스턴스 검토 가능)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키우거나(Alpamayo 2, 7카메라) 샘플 수·CFG를 늘릴 때 B만 교체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 호스트는 그대로 유지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432908" cy="201168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867912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867912"/>
            <a:ext cx="45642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최적화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325112"/>
            <a:ext cx="50671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CARLA와 모델을 함께 담을 초대형 단일 GPU 인스턴스가 필요 없음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없는 쪽만 정지: open-loop·노트북 실험 때는 A 정지, 데이터 수집 때는 B 정지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상주로 반복 실험의 대기 시간 감소  [요금 비교: 요금표 확인 후 기입]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0148" y="3703320"/>
            <a:ext cx="5432908" cy="201168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93028" y="3867912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93028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95948" y="3867912"/>
            <a:ext cx="45642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운영·확장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93028" y="4325112"/>
            <a:ext cx="50671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격리: 클라이언트·CARLA를 재시작해도 모델은 그대로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인터페이스가 계약(.proto)으로 고정되어 다른 모델·다른 시뮬레이터도 같은 방식으로 연결 가능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업스트림 Carlamayo와 같은 명령 체계 유지(--inference-server 플래그 추가)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이후: 실측값 반영과 분리 환경 상세 실험(별도 진행)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10048" cy="2743200"/>
          </a:xfrm>
          <a:prstGeom prst="roundRect">
            <a:avLst>
              <a:gd name="adj" fmla="val 266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81912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반영 (데모 전후)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39112"/>
            <a:ext cx="504428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보안그룹 허용(B 인바운드 50051, 22 ← A) 후 검증 체크리스트 8단계 실행: 네트워크 → fake 서버 → 실제 모델 → open-loop parity → closed-loop → navigation/CFG → VQA → 프로파일 분석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summary.md의 headline 값을 이 장표 ⑨·⑩과 설계 문서 '실측' 절에 기입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JPEG vs raw parity 차이(ATE)를 기록해 기본 인코딩 유지 여부 확정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417320"/>
            <a:ext cx="5410048" cy="2743200"/>
          </a:xfrm>
          <a:prstGeom prst="roundRect">
            <a:avLst>
              <a:gd name="adj" fmla="val 266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5888" y="1581912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 환경 상세 실험 후보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15888" y="2039112"/>
            <a:ext cx="504428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궤적 샘플 수 1 / 4 / 8: 추론 시간·VRAM·주행 안정성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 가중치 1.0 / 1.5 / 2.0: 지시 반응 vs 시간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JPEG 품질 70 / 85 / 95 vs raw: 대역폭·오버헤드·궤적 차이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vs 비동기 closed-loop: 궤적 나이와 주행 결과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Alpamayo 2 (7카메라, 174 MB raw): 대역폭 한계 확인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인스턴스 교체(ARM GPU 등) 비교: 같은 클라이언트로 서버만 바꿔 측정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348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인스턴스 검증 순서 (validation-checklist.md)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2602154" cy="109728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864608"/>
            <a:ext cx="310896" cy="31089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4846320"/>
            <a:ext cx="2035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네트워크·fake 서버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5212080"/>
            <a:ext cx="2382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보안그룹 → nc/ssh → GPU 없는 fake 서버로 왕복 확인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78226" y="5303520"/>
            <a:ext cx="173736" cy="0"/>
          </a:xfrm>
          <a:prstGeom prst="line">
            <a:avLst/>
          </a:prstGeom>
          <a:noFill/>
          <a:ln w="15875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79394" y="4754880"/>
            <a:ext cx="2602154" cy="109728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9525">
            <a:solidFill>
              <a:srgbClr val="2A6F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9122" y="4864608"/>
            <a:ext cx="310896" cy="310896"/>
          </a:xfrm>
          <a:prstGeom prst="ellipse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89122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854882" y="4846320"/>
            <a:ext cx="2035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F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모델 + open-loop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489122" y="5212080"/>
            <a:ext cx="2382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로컬 vs A 원격(raw·JPEG) parity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08980" y="5303520"/>
            <a:ext cx="173736" cy="0"/>
          </a:xfrm>
          <a:prstGeom prst="line">
            <a:avLst/>
          </a:prstGeom>
          <a:noFill/>
          <a:ln w="15875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10148" y="4754880"/>
            <a:ext cx="2602154" cy="109728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9525">
            <a:solidFill>
              <a:srgbClr val="E076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19876" y="4864608"/>
            <a:ext cx="310896" cy="310896"/>
          </a:xfrm>
          <a:prstGeom prst="ellipse">
            <a:avLst/>
          </a:prstGeom>
          <a:solidFill>
            <a:srgbClr val="E0762B"/>
          </a:solidFill>
          <a:ln w="12700">
            <a:solidFill>
              <a:srgbClr val="E076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19876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685636" y="4846320"/>
            <a:ext cx="2035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closed-loop·nav·VQA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319876" y="5212080"/>
            <a:ext cx="2382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→ 비동기 → navigation/CFG → VQA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839733" y="5303520"/>
            <a:ext cx="173736" cy="0"/>
          </a:xfrm>
          <a:prstGeom prst="line">
            <a:avLst/>
          </a:prstGeom>
          <a:noFill/>
          <a:ln w="15875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40901" y="4754880"/>
            <a:ext cx="2602154" cy="109728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50629" y="4864608"/>
            <a:ext cx="310896" cy="31089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50629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516389" y="4846320"/>
            <a:ext cx="2035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프로파일·문서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150629" y="5212080"/>
            <a:ext cx="2382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summary.md 확인, 설계 문서 '실측' 절과 이 장표에 기입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 용어집 (1/2): 실행 모드와 평가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open-loop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47672"/>
            <a:ext cx="317997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녹화된 주행 데이터를 재생하며 모델의 예측만 얻는다. 예측이 차량에 영향을 주지 않아 모델 단독 평가와 두 경로(로컬·원격)의 결과 비교에 쓴다.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2978" y="132588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5858" y="149047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live-open-loop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05858" y="1947672"/>
            <a:ext cx="317997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 오토파일럿이 운전하고 모델은 예측 궤적을 화면에 겹쳐 보여주기만 한다. 실제 주행 정책과 모델 예측을 나란히 비교할 때 쓴다.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7317" y="132588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0197" y="149047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closed-loop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80197" y="1947672"/>
            <a:ext cx="317997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낸 궤적을 PID 제어기가 실제 조향·가감속에 적용하고, 그 결과 장면이 다음 입력이 된다. 동기 모드는 추론 중 세계를 멈추고, 비동기(--async) 모드는 세계가 계속 진행된다.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82219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ADE / FDE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279392"/>
            <a:ext cx="317997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궤적과 실제 궤적의 평균 거리 오차(Average Displacement Error)와 마지막 점의 오차(Final Displacement Error), 단위 m. 여러 샘플 중 가장 좋은 값을 고르면 minADE.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22978" y="365760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05858" y="382219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trajectory age (궤적 나이)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05858" y="4279392"/>
            <a:ext cx="317997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궤적이 만들어진 시점부터 사용하는 시점까지 흐른 시간. 네트워크나 서버 문제로 6초를 넘으면 궤적을 버리고 정지한다(안전장치).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97317" y="365760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80197" y="382219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run_id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80197" y="4279392"/>
            <a:ext cx="317997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실행마다 고유한 결과 폴더 이름(runs/&lt;run_id&gt;/). A가 만들어 첫 요청에 실어 보내므로 B도 같은 이름의 폴더에 서버 기록을 남긴다.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 용어집 (2/2): 모델과 통신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 (Classifier-Free Guidance)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47672"/>
            <a:ext cx="317997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지시를 얼마나 강하게 따를지 정하는 가중치. 지시 있음/없음 두 예측을 섞어 계산하며 값이 클수록 지시를 우선한다. 1.0이 기본, 데모는 1.5. 커질수록 계산량과 VRAM이 늘어난다.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2978" y="132588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5858" y="149047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VQA (Visual Question Answering)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05858" y="1947672"/>
            <a:ext cx="317997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영상에 대해 자연어로 질문하면 모델이 텍스트로 답하는 모드. 궤적을 내지 않으므로 차량은 정지한 상태에서 질문하고 답을 확인한다.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7317" y="132588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0197" y="149047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4-bit NF4 양자화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80197" y="1947672"/>
            <a:ext cx="317997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가중치를 4비트 NormalFloat 형식으로 저장해 VRAM을 약 1/4로 줄이는 방법(bitsandbytes). 정밀도가 조금 떨어질 수 있다. 24 GB GPU 한 대에서 모델과 CARLA를 함께 돌릴 때 필요했다.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82219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OOM-free 모드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279392"/>
            <a:ext cx="317997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레이어를 CPU 메모리에 두고 필요한 것만 GPU로 옮겨 가며 실행해 VRAM 부족(Out Of Memory)을 피하는 방식. 느리지만 작은 GPU에서도 돈다. Alpamayo 1.5 전용.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22978" y="365760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05858" y="382219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gRPC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05858" y="4279392"/>
            <a:ext cx="317997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HTTP/2와 Protocol Buffers 위에서 동작하는 원격 호출 프레임워크. 메시지 형식을 .proto 파일로 고정해 두 호스트가 같은 계약을 쓰고, 시작 시 버전·설정 불일치를 바로 잡아낸다.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97317" y="365760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80197" y="382219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Alpamayo 1.5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80197" y="4279392"/>
            <a:ext cx="317997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43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NVIDIA의 주행용 비전-언어-행동 모델. 카메라 4대의 최근 4프레임과 자차 이력을 받아 추론 근거(CoT)와 6.4초 궤적을 낸다. 이번 데모의 기본 모델이며 navigation·CFG·VQA를 모두 지원한다.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  업스트림 대비 변경과 참고 문서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aveeslab/Carlamayo(e6372ea)를 히스토리째 가져와 분산 계층을 얹었다. 루프·PID·UI 동작은 업스트림과 같다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Carlamayo 분산 데모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원격 추론 계층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gRPC 계약(alpamayo_inference.proto), 서버(alpamayo_server.py), 원격 어댑터(RemoteAlpamayoAdapter). 기존 어댑터 인터페이스 그대로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torch 디커플링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루프·시각화·추론 유틸에서 torch 직접 사용 제거 → A는 torch 없이 실행(requirements-sim.txt)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 폴더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runs/&lt;run_id&gt;/ 에 영상·인자·로그·프로파일. run_id를 요청에 실어 B도 같은 폴더명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프로파일링·분석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3개, B 2개 CSV 자동 기록. tools/analyze_run.py → summary.md, plots. compare_predictions.py로 parity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안전장치·UI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궤적 최대 나이(6 s) 초과 시 정지. pygame UI 모든 closed-loop 모드 기본 on, live-open에도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옵션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--quantization / --oom-free / --num-traj-samples 는 서버 쪽으로 이동. 클라이언트는 --inference-server, --image-encoding, --jpeg-quality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GPU·CARLA 없이 도는 테스트 55 → 155개 (fake 어댑터·fake CARLA·UI 스모크 포함)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5720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(docs/distributed/): architecture-analysis.md(현재 구조) · distributed-architecture.md(분리 설계·데이터 교환 명세·프로파일링) · adr/(설계 결정 7건) · cheatsheet.md(인스턴스별 명령) · validation-checklist.md(8단계 검증) · changes-from-upstream.md(변경 표) · alpamayo15-notebooks-guide.md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Carlamayo 분산 데모 오버뷰</dc:title>
  <dc:subject>PptxGenJS Presentation</dc:subject>
  <dc:creator>Carlamayo distributed demo</dc:creator>
  <cp:lastModifiedBy>Carlamayo distributed demo</cp:lastModifiedBy>
  <cp:revision>1</cp:revision>
  <dcterms:created xsi:type="dcterms:W3CDTF">2026-10-01T00:13:24Z</dcterms:created>
  <dcterms:modified xsi:type="dcterms:W3CDTF">2026-10-01T00:13:24Z</dcterms:modified>
</cp:coreProperties>
</file>